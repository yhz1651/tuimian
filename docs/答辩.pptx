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2"/>
  </p:notesMasterIdLst>
  <p:handoutMasterIdLst>
    <p:handoutMasterId r:id="rId36"/>
  </p:handoutMasterIdLst>
  <p:sldIdLst>
    <p:sldId id="256" r:id="rId4"/>
    <p:sldId id="258" r:id="rId5"/>
    <p:sldId id="259" r:id="rId6"/>
    <p:sldId id="324" r:id="rId7"/>
    <p:sldId id="332" r:id="rId8"/>
    <p:sldId id="341" r:id="rId9"/>
    <p:sldId id="338" r:id="rId10"/>
    <p:sldId id="340" r:id="rId11"/>
    <p:sldId id="334" r:id="rId12"/>
    <p:sldId id="337" r:id="rId13"/>
    <p:sldId id="339" r:id="rId14"/>
    <p:sldId id="335" r:id="rId15"/>
    <p:sldId id="346" r:id="rId16"/>
    <p:sldId id="336" r:id="rId17"/>
    <p:sldId id="260" r:id="rId18"/>
    <p:sldId id="323" r:id="rId19"/>
    <p:sldId id="342" r:id="rId20"/>
    <p:sldId id="347" r:id="rId21"/>
    <p:sldId id="361" r:id="rId23"/>
    <p:sldId id="369" r:id="rId24"/>
    <p:sldId id="370" r:id="rId25"/>
    <p:sldId id="371" r:id="rId26"/>
    <p:sldId id="372" r:id="rId27"/>
    <p:sldId id="343" r:id="rId28"/>
    <p:sldId id="344" r:id="rId29"/>
    <p:sldId id="345" r:id="rId30"/>
    <p:sldId id="381" r:id="rId31"/>
    <p:sldId id="348" r:id="rId32"/>
    <p:sldId id="380" r:id="rId33"/>
    <p:sldId id="349" r:id="rId34"/>
    <p:sldId id="274" r:id="rId35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C3CD"/>
    <a:srgbClr val="022943"/>
    <a:srgbClr val="E3E3E3"/>
    <a:srgbClr val="FFFFFF"/>
    <a:srgbClr val="FE0536"/>
    <a:srgbClr val="D9D9D9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282"/>
      </p:cViewPr>
      <p:guideLst>
        <p:guide orient="horz" pos="2210"/>
        <p:guide pos="385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118.xml"/><Relationship Id="rId40" Type="http://schemas.openxmlformats.org/officeDocument/2006/relationships/commentAuthors" Target="commentAuthors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正圆-45W" panose="00020600040101010101" charset="-122"/>
              </a:rPr>
            </a:fld>
            <a:endParaRPr lang="zh-CN" altLang="en-US">
              <a:latin typeface="汉仪正圆-45W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正圆-45W" panose="00020600040101010101" charset="-122"/>
              </a:rPr>
            </a:fld>
            <a:endParaRPr lang="zh-CN" altLang="en-US">
              <a:latin typeface="汉仪正圆-45W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正圆-45W" panose="00020600040101010101" charset="-122"/>
                <a:ea typeface="汉仪正圆-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正圆-45W" panose="00020600040101010101" charset="-122"/>
                <a:ea typeface="汉仪正圆-45W" panose="0002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正圆-45W" panose="00020600040101010101" charset="-122"/>
                <a:ea typeface="汉仪正圆-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正圆-45W" panose="00020600040101010101" charset="-122"/>
                <a:ea typeface="汉仪正圆-45W" panose="0002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正圆-45W" panose="00020600040101010101" charset="-122"/>
        <a:ea typeface="汉仪正圆-45W" panose="0002060004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正圆-45W" panose="00020600040101010101" charset="-122"/>
        <a:ea typeface="汉仪正圆-45W" panose="0002060004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正圆-45W" panose="00020600040101010101" charset="-122"/>
        <a:ea typeface="汉仪正圆-45W" panose="0002060004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正圆-45W" panose="00020600040101010101" charset="-122"/>
        <a:ea typeface="汉仪正圆-45W" panose="0002060004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正圆-45W" panose="00020600040101010101" charset="-122"/>
        <a:ea typeface="汉仪正圆-45W" panose="0002060004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/>
        </p:nvSpPr>
        <p:spPr>
          <a:xfrm>
            <a:off x="778510" y="767715"/>
            <a:ext cx="10608310" cy="5304790"/>
          </a:xfrm>
          <a:prstGeom prst="rect">
            <a:avLst/>
          </a:prstGeom>
          <a:noFill/>
          <a:ln>
            <a:solidFill>
              <a:srgbClr val="022943">
                <a:alpha val="33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7560945" y="-21590"/>
            <a:ext cx="4643755" cy="2924175"/>
            <a:chOff x="11887" y="-14"/>
            <a:chExt cx="7313" cy="4605"/>
          </a:xfrm>
        </p:grpSpPr>
        <p:sp>
          <p:nvSpPr>
            <p:cNvPr id="10" name="任意多边形 9"/>
            <p:cNvSpPr/>
            <p:nvPr userDrawn="1"/>
          </p:nvSpPr>
          <p:spPr>
            <a:xfrm flipV="1">
              <a:off x="11887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12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 userDrawn="1"/>
          </p:nvSpPr>
          <p:spPr>
            <a:xfrm flipV="1">
              <a:off x="13069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49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 userDrawn="1"/>
          </p:nvSpPr>
          <p:spPr>
            <a:xfrm flipV="1">
              <a:off x="14891" y="0"/>
              <a:ext cx="4309" cy="3291"/>
            </a:xfrm>
            <a:custGeom>
              <a:avLst/>
              <a:gdLst>
                <a:gd name="connsiteX0" fmla="*/ 0 w 4309"/>
                <a:gd name="connsiteY0" fmla="*/ 3277 h 3291"/>
                <a:gd name="connsiteX1" fmla="*/ 2856 w 4309"/>
                <a:gd name="connsiteY1" fmla="*/ 0 h 3291"/>
                <a:gd name="connsiteX2" fmla="*/ 4290 w 4309"/>
                <a:gd name="connsiteY2" fmla="*/ 1600 h 3291"/>
                <a:gd name="connsiteX3" fmla="*/ 4309 w 4309"/>
                <a:gd name="connsiteY3" fmla="*/ 3291 h 3291"/>
                <a:gd name="connsiteX4" fmla="*/ 0 w 4309"/>
                <a:gd name="connsiteY4" fmla="*/ 3277 h 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291">
                  <a:moveTo>
                    <a:pt x="0" y="3277"/>
                  </a:moveTo>
                  <a:lnTo>
                    <a:pt x="2856" y="0"/>
                  </a:lnTo>
                  <a:lnTo>
                    <a:pt x="4290" y="1600"/>
                  </a:lnTo>
                  <a:lnTo>
                    <a:pt x="4309" y="3291"/>
                  </a:lnTo>
                  <a:lnTo>
                    <a:pt x="0" y="3277"/>
                  </a:lnTo>
                  <a:close/>
                </a:path>
              </a:pathLst>
            </a:custGeom>
            <a:solidFill>
              <a:srgbClr val="0229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 userDrawn="1"/>
          </p:nvSpPr>
          <p:spPr>
            <a:xfrm>
              <a:off x="15318" y="-12"/>
              <a:ext cx="3883" cy="4356"/>
            </a:xfrm>
            <a:custGeom>
              <a:avLst/>
              <a:gdLst>
                <a:gd name="connsiteX0" fmla="*/ 4539 w 4558"/>
                <a:gd name="connsiteY0" fmla="*/ 4795 h 4795"/>
                <a:gd name="connsiteX1" fmla="*/ 0 w 4558"/>
                <a:gd name="connsiteY1" fmla="*/ 12 h 4795"/>
                <a:gd name="connsiteX2" fmla="*/ 740 w 4558"/>
                <a:gd name="connsiteY2" fmla="*/ 0 h 4795"/>
                <a:gd name="connsiteX3" fmla="*/ 4558 w 4558"/>
                <a:gd name="connsiteY3" fmla="*/ 4136 h 4795"/>
                <a:gd name="connsiteX4" fmla="*/ 4539 w 4558"/>
                <a:gd name="connsiteY4" fmla="*/ 4795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8" h="4795">
                  <a:moveTo>
                    <a:pt x="4539" y="4795"/>
                  </a:moveTo>
                  <a:lnTo>
                    <a:pt x="0" y="12"/>
                  </a:lnTo>
                  <a:lnTo>
                    <a:pt x="740" y="0"/>
                  </a:lnTo>
                  <a:lnTo>
                    <a:pt x="4558" y="4136"/>
                  </a:lnTo>
                  <a:lnTo>
                    <a:pt x="4539" y="4795"/>
                  </a:lnTo>
                  <a:close/>
                </a:path>
              </a:pathLst>
            </a:custGeom>
            <a:solidFill>
              <a:srgbClr val="04C3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14542" y="15"/>
              <a:ext cx="4036" cy="4576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14190" y="0"/>
              <a:ext cx="2398" cy="2751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 userDrawn="1"/>
        </p:nvGrpSpPr>
        <p:grpSpPr>
          <a:xfrm flipH="1" flipV="1">
            <a:off x="-12700" y="3956685"/>
            <a:ext cx="4643755" cy="2924175"/>
            <a:chOff x="11887" y="-14"/>
            <a:chExt cx="7313" cy="4605"/>
          </a:xfrm>
        </p:grpSpPr>
        <p:sp>
          <p:nvSpPr>
            <p:cNvPr id="14" name="任意多边形 13"/>
            <p:cNvSpPr/>
            <p:nvPr userDrawn="1"/>
          </p:nvSpPr>
          <p:spPr>
            <a:xfrm flipV="1">
              <a:off x="11887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12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 userDrawn="1"/>
          </p:nvSpPr>
          <p:spPr>
            <a:xfrm flipV="1">
              <a:off x="13069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49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 userDrawn="1"/>
          </p:nvSpPr>
          <p:spPr>
            <a:xfrm flipV="1">
              <a:off x="14891" y="0"/>
              <a:ext cx="4309" cy="3291"/>
            </a:xfrm>
            <a:custGeom>
              <a:avLst/>
              <a:gdLst>
                <a:gd name="connsiteX0" fmla="*/ 0 w 4309"/>
                <a:gd name="connsiteY0" fmla="*/ 3277 h 3291"/>
                <a:gd name="connsiteX1" fmla="*/ 2856 w 4309"/>
                <a:gd name="connsiteY1" fmla="*/ 0 h 3291"/>
                <a:gd name="connsiteX2" fmla="*/ 4290 w 4309"/>
                <a:gd name="connsiteY2" fmla="*/ 1600 h 3291"/>
                <a:gd name="connsiteX3" fmla="*/ 4309 w 4309"/>
                <a:gd name="connsiteY3" fmla="*/ 3291 h 3291"/>
                <a:gd name="connsiteX4" fmla="*/ 0 w 4309"/>
                <a:gd name="connsiteY4" fmla="*/ 3277 h 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291">
                  <a:moveTo>
                    <a:pt x="0" y="3277"/>
                  </a:moveTo>
                  <a:lnTo>
                    <a:pt x="2856" y="0"/>
                  </a:lnTo>
                  <a:lnTo>
                    <a:pt x="4290" y="1600"/>
                  </a:lnTo>
                  <a:lnTo>
                    <a:pt x="4309" y="3291"/>
                  </a:lnTo>
                  <a:lnTo>
                    <a:pt x="0" y="3277"/>
                  </a:lnTo>
                  <a:close/>
                </a:path>
              </a:pathLst>
            </a:custGeom>
            <a:solidFill>
              <a:srgbClr val="0229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 userDrawn="1"/>
          </p:nvSpPr>
          <p:spPr>
            <a:xfrm>
              <a:off x="15318" y="-12"/>
              <a:ext cx="3883" cy="4356"/>
            </a:xfrm>
            <a:custGeom>
              <a:avLst/>
              <a:gdLst>
                <a:gd name="connsiteX0" fmla="*/ 4539 w 4558"/>
                <a:gd name="connsiteY0" fmla="*/ 4795 h 4795"/>
                <a:gd name="connsiteX1" fmla="*/ 0 w 4558"/>
                <a:gd name="connsiteY1" fmla="*/ 12 h 4795"/>
                <a:gd name="connsiteX2" fmla="*/ 740 w 4558"/>
                <a:gd name="connsiteY2" fmla="*/ 0 h 4795"/>
                <a:gd name="connsiteX3" fmla="*/ 4558 w 4558"/>
                <a:gd name="connsiteY3" fmla="*/ 4136 h 4795"/>
                <a:gd name="connsiteX4" fmla="*/ 4539 w 4558"/>
                <a:gd name="connsiteY4" fmla="*/ 4795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8" h="4795">
                  <a:moveTo>
                    <a:pt x="4539" y="4795"/>
                  </a:moveTo>
                  <a:lnTo>
                    <a:pt x="0" y="12"/>
                  </a:lnTo>
                  <a:lnTo>
                    <a:pt x="740" y="0"/>
                  </a:lnTo>
                  <a:lnTo>
                    <a:pt x="4558" y="4136"/>
                  </a:lnTo>
                  <a:lnTo>
                    <a:pt x="4539" y="4795"/>
                  </a:lnTo>
                  <a:close/>
                </a:path>
              </a:pathLst>
            </a:custGeom>
            <a:solidFill>
              <a:srgbClr val="04C3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14542" y="15"/>
              <a:ext cx="4036" cy="4576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14190" y="0"/>
              <a:ext cx="2398" cy="2751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307340" y="353060"/>
            <a:ext cx="11550015" cy="6133465"/>
          </a:xfrm>
          <a:prstGeom prst="rect">
            <a:avLst/>
          </a:prstGeom>
          <a:noFill/>
          <a:ln>
            <a:solidFill>
              <a:srgbClr val="022943">
                <a:alpha val="39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10387330" y="-8890"/>
            <a:ext cx="1814830" cy="1481455"/>
            <a:chOff x="11887" y="-14"/>
            <a:chExt cx="7313" cy="4605"/>
          </a:xfrm>
        </p:grpSpPr>
        <p:sp>
          <p:nvSpPr>
            <p:cNvPr id="10" name="任意多边形 9"/>
            <p:cNvSpPr/>
            <p:nvPr userDrawn="1"/>
          </p:nvSpPr>
          <p:spPr>
            <a:xfrm flipV="1">
              <a:off x="11887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12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 userDrawn="1"/>
          </p:nvSpPr>
          <p:spPr>
            <a:xfrm flipV="1">
              <a:off x="13069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49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 userDrawn="1"/>
          </p:nvSpPr>
          <p:spPr>
            <a:xfrm flipV="1">
              <a:off x="14891" y="0"/>
              <a:ext cx="4309" cy="3291"/>
            </a:xfrm>
            <a:custGeom>
              <a:avLst/>
              <a:gdLst>
                <a:gd name="connsiteX0" fmla="*/ 0 w 4309"/>
                <a:gd name="connsiteY0" fmla="*/ 3277 h 3291"/>
                <a:gd name="connsiteX1" fmla="*/ 2856 w 4309"/>
                <a:gd name="connsiteY1" fmla="*/ 0 h 3291"/>
                <a:gd name="connsiteX2" fmla="*/ 4290 w 4309"/>
                <a:gd name="connsiteY2" fmla="*/ 1600 h 3291"/>
                <a:gd name="connsiteX3" fmla="*/ 4309 w 4309"/>
                <a:gd name="connsiteY3" fmla="*/ 3291 h 3291"/>
                <a:gd name="connsiteX4" fmla="*/ 0 w 4309"/>
                <a:gd name="connsiteY4" fmla="*/ 3277 h 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291">
                  <a:moveTo>
                    <a:pt x="0" y="3277"/>
                  </a:moveTo>
                  <a:lnTo>
                    <a:pt x="2856" y="0"/>
                  </a:lnTo>
                  <a:lnTo>
                    <a:pt x="4290" y="1600"/>
                  </a:lnTo>
                  <a:lnTo>
                    <a:pt x="4309" y="3291"/>
                  </a:lnTo>
                  <a:lnTo>
                    <a:pt x="0" y="3277"/>
                  </a:lnTo>
                  <a:close/>
                </a:path>
              </a:pathLst>
            </a:custGeom>
            <a:solidFill>
              <a:srgbClr val="0229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 userDrawn="1"/>
          </p:nvSpPr>
          <p:spPr>
            <a:xfrm>
              <a:off x="15318" y="-12"/>
              <a:ext cx="3883" cy="4356"/>
            </a:xfrm>
            <a:custGeom>
              <a:avLst/>
              <a:gdLst>
                <a:gd name="connsiteX0" fmla="*/ 4539 w 4558"/>
                <a:gd name="connsiteY0" fmla="*/ 4795 h 4795"/>
                <a:gd name="connsiteX1" fmla="*/ 0 w 4558"/>
                <a:gd name="connsiteY1" fmla="*/ 12 h 4795"/>
                <a:gd name="connsiteX2" fmla="*/ 740 w 4558"/>
                <a:gd name="connsiteY2" fmla="*/ 0 h 4795"/>
                <a:gd name="connsiteX3" fmla="*/ 4558 w 4558"/>
                <a:gd name="connsiteY3" fmla="*/ 4136 h 4795"/>
                <a:gd name="connsiteX4" fmla="*/ 4539 w 4558"/>
                <a:gd name="connsiteY4" fmla="*/ 4795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8" h="4795">
                  <a:moveTo>
                    <a:pt x="4539" y="4795"/>
                  </a:moveTo>
                  <a:lnTo>
                    <a:pt x="0" y="12"/>
                  </a:lnTo>
                  <a:lnTo>
                    <a:pt x="740" y="0"/>
                  </a:lnTo>
                  <a:lnTo>
                    <a:pt x="4558" y="4136"/>
                  </a:lnTo>
                  <a:lnTo>
                    <a:pt x="4539" y="4795"/>
                  </a:lnTo>
                  <a:close/>
                </a:path>
              </a:pathLst>
            </a:custGeom>
            <a:solidFill>
              <a:srgbClr val="04C3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14542" y="15"/>
              <a:ext cx="4036" cy="4576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4190" y="0"/>
              <a:ext cx="2398" cy="2751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 userDrawn="1"/>
        </p:nvGrpSpPr>
        <p:grpSpPr>
          <a:xfrm flipH="1" flipV="1">
            <a:off x="-20320" y="5576570"/>
            <a:ext cx="1937385" cy="1273810"/>
            <a:chOff x="11887" y="-14"/>
            <a:chExt cx="7313" cy="4605"/>
          </a:xfrm>
        </p:grpSpPr>
        <p:sp>
          <p:nvSpPr>
            <p:cNvPr id="15" name="任意多边形 14"/>
            <p:cNvSpPr/>
            <p:nvPr userDrawn="1"/>
          </p:nvSpPr>
          <p:spPr>
            <a:xfrm flipV="1">
              <a:off x="11887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12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 userDrawn="1"/>
          </p:nvSpPr>
          <p:spPr>
            <a:xfrm flipV="1">
              <a:off x="13069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49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 userDrawn="1"/>
          </p:nvSpPr>
          <p:spPr>
            <a:xfrm flipV="1">
              <a:off x="14891" y="0"/>
              <a:ext cx="4309" cy="3291"/>
            </a:xfrm>
            <a:custGeom>
              <a:avLst/>
              <a:gdLst>
                <a:gd name="connsiteX0" fmla="*/ 0 w 4309"/>
                <a:gd name="connsiteY0" fmla="*/ 3277 h 3291"/>
                <a:gd name="connsiteX1" fmla="*/ 2856 w 4309"/>
                <a:gd name="connsiteY1" fmla="*/ 0 h 3291"/>
                <a:gd name="connsiteX2" fmla="*/ 4290 w 4309"/>
                <a:gd name="connsiteY2" fmla="*/ 1600 h 3291"/>
                <a:gd name="connsiteX3" fmla="*/ 4309 w 4309"/>
                <a:gd name="connsiteY3" fmla="*/ 3291 h 3291"/>
                <a:gd name="connsiteX4" fmla="*/ 0 w 4309"/>
                <a:gd name="connsiteY4" fmla="*/ 3277 h 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291">
                  <a:moveTo>
                    <a:pt x="0" y="3277"/>
                  </a:moveTo>
                  <a:lnTo>
                    <a:pt x="2856" y="0"/>
                  </a:lnTo>
                  <a:lnTo>
                    <a:pt x="4290" y="1600"/>
                  </a:lnTo>
                  <a:lnTo>
                    <a:pt x="4309" y="3291"/>
                  </a:lnTo>
                  <a:lnTo>
                    <a:pt x="0" y="3277"/>
                  </a:lnTo>
                  <a:close/>
                </a:path>
              </a:pathLst>
            </a:custGeom>
            <a:solidFill>
              <a:srgbClr val="0229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 userDrawn="1"/>
          </p:nvSpPr>
          <p:spPr>
            <a:xfrm>
              <a:off x="15318" y="-12"/>
              <a:ext cx="3883" cy="4356"/>
            </a:xfrm>
            <a:custGeom>
              <a:avLst/>
              <a:gdLst>
                <a:gd name="connsiteX0" fmla="*/ 4539 w 4558"/>
                <a:gd name="connsiteY0" fmla="*/ 4795 h 4795"/>
                <a:gd name="connsiteX1" fmla="*/ 0 w 4558"/>
                <a:gd name="connsiteY1" fmla="*/ 12 h 4795"/>
                <a:gd name="connsiteX2" fmla="*/ 740 w 4558"/>
                <a:gd name="connsiteY2" fmla="*/ 0 h 4795"/>
                <a:gd name="connsiteX3" fmla="*/ 4558 w 4558"/>
                <a:gd name="connsiteY3" fmla="*/ 4136 h 4795"/>
                <a:gd name="connsiteX4" fmla="*/ 4539 w 4558"/>
                <a:gd name="connsiteY4" fmla="*/ 4795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8" h="4795">
                  <a:moveTo>
                    <a:pt x="4539" y="4795"/>
                  </a:moveTo>
                  <a:lnTo>
                    <a:pt x="0" y="12"/>
                  </a:lnTo>
                  <a:lnTo>
                    <a:pt x="740" y="0"/>
                  </a:lnTo>
                  <a:lnTo>
                    <a:pt x="4558" y="4136"/>
                  </a:lnTo>
                  <a:lnTo>
                    <a:pt x="4539" y="4795"/>
                  </a:lnTo>
                  <a:close/>
                </a:path>
              </a:pathLst>
            </a:custGeom>
            <a:solidFill>
              <a:srgbClr val="04C3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14542" y="15"/>
              <a:ext cx="4036" cy="4576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4190" y="0"/>
              <a:ext cx="2398" cy="2751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/>
        </p:nvSpPr>
        <p:spPr>
          <a:xfrm>
            <a:off x="778510" y="767715"/>
            <a:ext cx="10608310" cy="5304790"/>
          </a:xfrm>
          <a:prstGeom prst="rect">
            <a:avLst/>
          </a:prstGeom>
          <a:noFill/>
          <a:ln>
            <a:solidFill>
              <a:srgbClr val="022943">
                <a:alpha val="33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7560945" y="-21590"/>
            <a:ext cx="4643755" cy="2924175"/>
            <a:chOff x="11887" y="-14"/>
            <a:chExt cx="7313" cy="4605"/>
          </a:xfrm>
        </p:grpSpPr>
        <p:sp>
          <p:nvSpPr>
            <p:cNvPr id="10" name="任意多边形 9"/>
            <p:cNvSpPr/>
            <p:nvPr userDrawn="1"/>
          </p:nvSpPr>
          <p:spPr>
            <a:xfrm flipV="1">
              <a:off x="11887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12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 userDrawn="1"/>
          </p:nvSpPr>
          <p:spPr>
            <a:xfrm flipV="1">
              <a:off x="13069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49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 userDrawn="1"/>
          </p:nvSpPr>
          <p:spPr>
            <a:xfrm flipV="1">
              <a:off x="14891" y="0"/>
              <a:ext cx="4309" cy="3291"/>
            </a:xfrm>
            <a:custGeom>
              <a:avLst/>
              <a:gdLst>
                <a:gd name="connsiteX0" fmla="*/ 0 w 4309"/>
                <a:gd name="connsiteY0" fmla="*/ 3277 h 3291"/>
                <a:gd name="connsiteX1" fmla="*/ 2856 w 4309"/>
                <a:gd name="connsiteY1" fmla="*/ 0 h 3291"/>
                <a:gd name="connsiteX2" fmla="*/ 4290 w 4309"/>
                <a:gd name="connsiteY2" fmla="*/ 1600 h 3291"/>
                <a:gd name="connsiteX3" fmla="*/ 4309 w 4309"/>
                <a:gd name="connsiteY3" fmla="*/ 3291 h 3291"/>
                <a:gd name="connsiteX4" fmla="*/ 0 w 4309"/>
                <a:gd name="connsiteY4" fmla="*/ 3277 h 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291">
                  <a:moveTo>
                    <a:pt x="0" y="3277"/>
                  </a:moveTo>
                  <a:lnTo>
                    <a:pt x="2856" y="0"/>
                  </a:lnTo>
                  <a:lnTo>
                    <a:pt x="4290" y="1600"/>
                  </a:lnTo>
                  <a:lnTo>
                    <a:pt x="4309" y="3291"/>
                  </a:lnTo>
                  <a:lnTo>
                    <a:pt x="0" y="3277"/>
                  </a:lnTo>
                  <a:close/>
                </a:path>
              </a:pathLst>
            </a:custGeom>
            <a:solidFill>
              <a:srgbClr val="0229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 userDrawn="1"/>
          </p:nvSpPr>
          <p:spPr>
            <a:xfrm>
              <a:off x="15318" y="-12"/>
              <a:ext cx="3883" cy="4356"/>
            </a:xfrm>
            <a:custGeom>
              <a:avLst/>
              <a:gdLst>
                <a:gd name="connsiteX0" fmla="*/ 4539 w 4558"/>
                <a:gd name="connsiteY0" fmla="*/ 4795 h 4795"/>
                <a:gd name="connsiteX1" fmla="*/ 0 w 4558"/>
                <a:gd name="connsiteY1" fmla="*/ 12 h 4795"/>
                <a:gd name="connsiteX2" fmla="*/ 740 w 4558"/>
                <a:gd name="connsiteY2" fmla="*/ 0 h 4795"/>
                <a:gd name="connsiteX3" fmla="*/ 4558 w 4558"/>
                <a:gd name="connsiteY3" fmla="*/ 4136 h 4795"/>
                <a:gd name="connsiteX4" fmla="*/ 4539 w 4558"/>
                <a:gd name="connsiteY4" fmla="*/ 4795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8" h="4795">
                  <a:moveTo>
                    <a:pt x="4539" y="4795"/>
                  </a:moveTo>
                  <a:lnTo>
                    <a:pt x="0" y="12"/>
                  </a:lnTo>
                  <a:lnTo>
                    <a:pt x="740" y="0"/>
                  </a:lnTo>
                  <a:lnTo>
                    <a:pt x="4558" y="4136"/>
                  </a:lnTo>
                  <a:lnTo>
                    <a:pt x="4539" y="4795"/>
                  </a:lnTo>
                  <a:close/>
                </a:path>
              </a:pathLst>
            </a:custGeom>
            <a:solidFill>
              <a:srgbClr val="04C3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14542" y="15"/>
              <a:ext cx="4036" cy="4576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14190" y="0"/>
              <a:ext cx="2398" cy="2751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 userDrawn="1"/>
        </p:nvGrpSpPr>
        <p:grpSpPr>
          <a:xfrm flipH="1" flipV="1">
            <a:off x="-12700" y="3946525"/>
            <a:ext cx="4643755" cy="2924175"/>
            <a:chOff x="11887" y="-14"/>
            <a:chExt cx="7313" cy="4605"/>
          </a:xfrm>
        </p:grpSpPr>
        <p:sp>
          <p:nvSpPr>
            <p:cNvPr id="14" name="任意多边形 13"/>
            <p:cNvSpPr/>
            <p:nvPr userDrawn="1"/>
          </p:nvSpPr>
          <p:spPr>
            <a:xfrm flipV="1">
              <a:off x="11887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12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 userDrawn="1"/>
          </p:nvSpPr>
          <p:spPr>
            <a:xfrm flipV="1">
              <a:off x="13069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49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 userDrawn="1"/>
          </p:nvSpPr>
          <p:spPr>
            <a:xfrm flipV="1">
              <a:off x="14891" y="0"/>
              <a:ext cx="4309" cy="3291"/>
            </a:xfrm>
            <a:custGeom>
              <a:avLst/>
              <a:gdLst>
                <a:gd name="connsiteX0" fmla="*/ 0 w 4309"/>
                <a:gd name="connsiteY0" fmla="*/ 3277 h 3291"/>
                <a:gd name="connsiteX1" fmla="*/ 2856 w 4309"/>
                <a:gd name="connsiteY1" fmla="*/ 0 h 3291"/>
                <a:gd name="connsiteX2" fmla="*/ 4290 w 4309"/>
                <a:gd name="connsiteY2" fmla="*/ 1600 h 3291"/>
                <a:gd name="connsiteX3" fmla="*/ 4309 w 4309"/>
                <a:gd name="connsiteY3" fmla="*/ 3291 h 3291"/>
                <a:gd name="connsiteX4" fmla="*/ 0 w 4309"/>
                <a:gd name="connsiteY4" fmla="*/ 3277 h 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291">
                  <a:moveTo>
                    <a:pt x="0" y="3277"/>
                  </a:moveTo>
                  <a:lnTo>
                    <a:pt x="2856" y="0"/>
                  </a:lnTo>
                  <a:lnTo>
                    <a:pt x="4290" y="1600"/>
                  </a:lnTo>
                  <a:lnTo>
                    <a:pt x="4309" y="3291"/>
                  </a:lnTo>
                  <a:lnTo>
                    <a:pt x="0" y="3277"/>
                  </a:lnTo>
                  <a:close/>
                </a:path>
              </a:pathLst>
            </a:custGeom>
            <a:solidFill>
              <a:srgbClr val="0229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 userDrawn="1"/>
          </p:nvSpPr>
          <p:spPr>
            <a:xfrm>
              <a:off x="15318" y="-12"/>
              <a:ext cx="3883" cy="4356"/>
            </a:xfrm>
            <a:custGeom>
              <a:avLst/>
              <a:gdLst>
                <a:gd name="connsiteX0" fmla="*/ 4539 w 4558"/>
                <a:gd name="connsiteY0" fmla="*/ 4795 h 4795"/>
                <a:gd name="connsiteX1" fmla="*/ 0 w 4558"/>
                <a:gd name="connsiteY1" fmla="*/ 12 h 4795"/>
                <a:gd name="connsiteX2" fmla="*/ 740 w 4558"/>
                <a:gd name="connsiteY2" fmla="*/ 0 h 4795"/>
                <a:gd name="connsiteX3" fmla="*/ 4558 w 4558"/>
                <a:gd name="connsiteY3" fmla="*/ 4136 h 4795"/>
                <a:gd name="connsiteX4" fmla="*/ 4539 w 4558"/>
                <a:gd name="connsiteY4" fmla="*/ 4795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8" h="4795">
                  <a:moveTo>
                    <a:pt x="4539" y="4795"/>
                  </a:moveTo>
                  <a:lnTo>
                    <a:pt x="0" y="12"/>
                  </a:lnTo>
                  <a:lnTo>
                    <a:pt x="740" y="0"/>
                  </a:lnTo>
                  <a:lnTo>
                    <a:pt x="4558" y="4136"/>
                  </a:lnTo>
                  <a:lnTo>
                    <a:pt x="4539" y="4795"/>
                  </a:lnTo>
                  <a:close/>
                </a:path>
              </a:pathLst>
            </a:custGeom>
            <a:solidFill>
              <a:srgbClr val="04C3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14542" y="15"/>
              <a:ext cx="4036" cy="4576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14190" y="0"/>
              <a:ext cx="2398" cy="2751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307340" y="353060"/>
            <a:ext cx="11550015" cy="6133465"/>
          </a:xfrm>
          <a:prstGeom prst="rect">
            <a:avLst/>
          </a:prstGeom>
          <a:noFill/>
          <a:ln>
            <a:solidFill>
              <a:srgbClr val="022943">
                <a:alpha val="39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10396220" y="-8890"/>
            <a:ext cx="1814830" cy="1481455"/>
            <a:chOff x="11887" y="-14"/>
            <a:chExt cx="7313" cy="4605"/>
          </a:xfrm>
        </p:grpSpPr>
        <p:sp>
          <p:nvSpPr>
            <p:cNvPr id="10" name="任意多边形 9"/>
            <p:cNvSpPr/>
            <p:nvPr userDrawn="1"/>
          </p:nvSpPr>
          <p:spPr>
            <a:xfrm flipV="1">
              <a:off x="11887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12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 userDrawn="1"/>
          </p:nvSpPr>
          <p:spPr>
            <a:xfrm flipV="1">
              <a:off x="13069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49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 userDrawn="1"/>
          </p:nvSpPr>
          <p:spPr>
            <a:xfrm flipV="1">
              <a:off x="14891" y="0"/>
              <a:ext cx="4309" cy="3291"/>
            </a:xfrm>
            <a:custGeom>
              <a:avLst/>
              <a:gdLst>
                <a:gd name="connsiteX0" fmla="*/ 0 w 4309"/>
                <a:gd name="connsiteY0" fmla="*/ 3277 h 3291"/>
                <a:gd name="connsiteX1" fmla="*/ 2856 w 4309"/>
                <a:gd name="connsiteY1" fmla="*/ 0 h 3291"/>
                <a:gd name="connsiteX2" fmla="*/ 4290 w 4309"/>
                <a:gd name="connsiteY2" fmla="*/ 1600 h 3291"/>
                <a:gd name="connsiteX3" fmla="*/ 4309 w 4309"/>
                <a:gd name="connsiteY3" fmla="*/ 3291 h 3291"/>
                <a:gd name="connsiteX4" fmla="*/ 0 w 4309"/>
                <a:gd name="connsiteY4" fmla="*/ 3277 h 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291">
                  <a:moveTo>
                    <a:pt x="0" y="3277"/>
                  </a:moveTo>
                  <a:lnTo>
                    <a:pt x="2856" y="0"/>
                  </a:lnTo>
                  <a:lnTo>
                    <a:pt x="4290" y="1600"/>
                  </a:lnTo>
                  <a:lnTo>
                    <a:pt x="4309" y="3291"/>
                  </a:lnTo>
                  <a:lnTo>
                    <a:pt x="0" y="3277"/>
                  </a:lnTo>
                  <a:close/>
                </a:path>
              </a:pathLst>
            </a:custGeom>
            <a:solidFill>
              <a:srgbClr val="0229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 userDrawn="1"/>
          </p:nvSpPr>
          <p:spPr>
            <a:xfrm>
              <a:off x="15318" y="-12"/>
              <a:ext cx="3883" cy="4356"/>
            </a:xfrm>
            <a:custGeom>
              <a:avLst/>
              <a:gdLst>
                <a:gd name="connsiteX0" fmla="*/ 4539 w 4558"/>
                <a:gd name="connsiteY0" fmla="*/ 4795 h 4795"/>
                <a:gd name="connsiteX1" fmla="*/ 0 w 4558"/>
                <a:gd name="connsiteY1" fmla="*/ 12 h 4795"/>
                <a:gd name="connsiteX2" fmla="*/ 740 w 4558"/>
                <a:gd name="connsiteY2" fmla="*/ 0 h 4795"/>
                <a:gd name="connsiteX3" fmla="*/ 4558 w 4558"/>
                <a:gd name="connsiteY3" fmla="*/ 4136 h 4795"/>
                <a:gd name="connsiteX4" fmla="*/ 4539 w 4558"/>
                <a:gd name="connsiteY4" fmla="*/ 4795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8" h="4795">
                  <a:moveTo>
                    <a:pt x="4539" y="4795"/>
                  </a:moveTo>
                  <a:lnTo>
                    <a:pt x="0" y="12"/>
                  </a:lnTo>
                  <a:lnTo>
                    <a:pt x="740" y="0"/>
                  </a:lnTo>
                  <a:lnTo>
                    <a:pt x="4558" y="4136"/>
                  </a:lnTo>
                  <a:lnTo>
                    <a:pt x="4539" y="4795"/>
                  </a:lnTo>
                  <a:close/>
                </a:path>
              </a:pathLst>
            </a:custGeom>
            <a:solidFill>
              <a:srgbClr val="04C3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14542" y="15"/>
              <a:ext cx="4036" cy="4576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4190" y="0"/>
              <a:ext cx="2398" cy="2751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 userDrawn="1"/>
        </p:nvGrpSpPr>
        <p:grpSpPr>
          <a:xfrm flipH="1" flipV="1">
            <a:off x="-29210" y="5603240"/>
            <a:ext cx="1937385" cy="1273810"/>
            <a:chOff x="11887" y="-14"/>
            <a:chExt cx="7313" cy="4605"/>
          </a:xfrm>
        </p:grpSpPr>
        <p:sp>
          <p:nvSpPr>
            <p:cNvPr id="15" name="任意多边形 14"/>
            <p:cNvSpPr/>
            <p:nvPr userDrawn="1"/>
          </p:nvSpPr>
          <p:spPr>
            <a:xfrm flipV="1">
              <a:off x="11887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12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 userDrawn="1"/>
          </p:nvSpPr>
          <p:spPr>
            <a:xfrm flipV="1">
              <a:off x="13069" y="-14"/>
              <a:ext cx="5658" cy="3848"/>
            </a:xfrm>
            <a:custGeom>
              <a:avLst/>
              <a:gdLst>
                <a:gd name="connsiteX0" fmla="*/ 0 w 5658"/>
                <a:gd name="connsiteY0" fmla="*/ 3834 h 3848"/>
                <a:gd name="connsiteX1" fmla="*/ 3496 w 5658"/>
                <a:gd name="connsiteY1" fmla="*/ 0 h 3848"/>
                <a:gd name="connsiteX2" fmla="*/ 5633 w 5658"/>
                <a:gd name="connsiteY2" fmla="*/ 2157 h 3848"/>
                <a:gd name="connsiteX3" fmla="*/ 5658 w 5658"/>
                <a:gd name="connsiteY3" fmla="*/ 3848 h 3848"/>
                <a:gd name="connsiteX4" fmla="*/ 0 w 5658"/>
                <a:gd name="connsiteY4" fmla="*/ 3834 h 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848">
                  <a:moveTo>
                    <a:pt x="0" y="3834"/>
                  </a:moveTo>
                  <a:lnTo>
                    <a:pt x="3496" y="0"/>
                  </a:lnTo>
                  <a:lnTo>
                    <a:pt x="5633" y="2157"/>
                  </a:lnTo>
                  <a:lnTo>
                    <a:pt x="5658" y="3848"/>
                  </a:lnTo>
                  <a:lnTo>
                    <a:pt x="0" y="3834"/>
                  </a:lnTo>
                  <a:close/>
                </a:path>
              </a:pathLst>
            </a:custGeom>
            <a:gradFill>
              <a:gsLst>
                <a:gs pos="99000">
                  <a:srgbClr val="C8C8C8">
                    <a:alpha val="49000"/>
                  </a:srgbClr>
                </a:gs>
                <a:gs pos="0">
                  <a:srgbClr val="F0F0F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 userDrawn="1"/>
          </p:nvSpPr>
          <p:spPr>
            <a:xfrm flipV="1">
              <a:off x="14891" y="0"/>
              <a:ext cx="4309" cy="3291"/>
            </a:xfrm>
            <a:custGeom>
              <a:avLst/>
              <a:gdLst>
                <a:gd name="connsiteX0" fmla="*/ 0 w 4309"/>
                <a:gd name="connsiteY0" fmla="*/ 3277 h 3291"/>
                <a:gd name="connsiteX1" fmla="*/ 2856 w 4309"/>
                <a:gd name="connsiteY1" fmla="*/ 0 h 3291"/>
                <a:gd name="connsiteX2" fmla="*/ 4290 w 4309"/>
                <a:gd name="connsiteY2" fmla="*/ 1600 h 3291"/>
                <a:gd name="connsiteX3" fmla="*/ 4309 w 4309"/>
                <a:gd name="connsiteY3" fmla="*/ 3291 h 3291"/>
                <a:gd name="connsiteX4" fmla="*/ 0 w 4309"/>
                <a:gd name="connsiteY4" fmla="*/ 3277 h 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" h="3291">
                  <a:moveTo>
                    <a:pt x="0" y="3277"/>
                  </a:moveTo>
                  <a:lnTo>
                    <a:pt x="2856" y="0"/>
                  </a:lnTo>
                  <a:lnTo>
                    <a:pt x="4290" y="1600"/>
                  </a:lnTo>
                  <a:lnTo>
                    <a:pt x="4309" y="3291"/>
                  </a:lnTo>
                  <a:lnTo>
                    <a:pt x="0" y="3277"/>
                  </a:lnTo>
                  <a:close/>
                </a:path>
              </a:pathLst>
            </a:custGeom>
            <a:solidFill>
              <a:srgbClr val="0229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 userDrawn="1"/>
          </p:nvSpPr>
          <p:spPr>
            <a:xfrm>
              <a:off x="15318" y="-12"/>
              <a:ext cx="3883" cy="4356"/>
            </a:xfrm>
            <a:custGeom>
              <a:avLst/>
              <a:gdLst>
                <a:gd name="connsiteX0" fmla="*/ 4539 w 4558"/>
                <a:gd name="connsiteY0" fmla="*/ 4795 h 4795"/>
                <a:gd name="connsiteX1" fmla="*/ 0 w 4558"/>
                <a:gd name="connsiteY1" fmla="*/ 12 h 4795"/>
                <a:gd name="connsiteX2" fmla="*/ 740 w 4558"/>
                <a:gd name="connsiteY2" fmla="*/ 0 h 4795"/>
                <a:gd name="connsiteX3" fmla="*/ 4558 w 4558"/>
                <a:gd name="connsiteY3" fmla="*/ 4136 h 4795"/>
                <a:gd name="connsiteX4" fmla="*/ 4539 w 4558"/>
                <a:gd name="connsiteY4" fmla="*/ 4795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8" h="4795">
                  <a:moveTo>
                    <a:pt x="4539" y="4795"/>
                  </a:moveTo>
                  <a:lnTo>
                    <a:pt x="0" y="12"/>
                  </a:lnTo>
                  <a:lnTo>
                    <a:pt x="740" y="0"/>
                  </a:lnTo>
                  <a:lnTo>
                    <a:pt x="4558" y="4136"/>
                  </a:lnTo>
                  <a:lnTo>
                    <a:pt x="4539" y="4795"/>
                  </a:lnTo>
                  <a:close/>
                </a:path>
              </a:pathLst>
            </a:custGeom>
            <a:solidFill>
              <a:srgbClr val="04C3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14542" y="15"/>
              <a:ext cx="4036" cy="4576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4190" y="0"/>
              <a:ext cx="2398" cy="2751"/>
            </a:xfrm>
            <a:prstGeom prst="line">
              <a:avLst/>
            </a:prstGeom>
            <a:ln>
              <a:solidFill>
                <a:srgbClr val="04C3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tags" Target="../tags/tag8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5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8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9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0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5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6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08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0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0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tags" Target="../tags/tag1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115.xml"/><Relationship Id="rId12" Type="http://schemas.openxmlformats.org/officeDocument/2006/relationships/image" Target="../media/image47.png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1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明月 9"/>
          <p:cNvSpPr txBox="1"/>
          <p:nvPr/>
        </p:nvSpPr>
        <p:spPr>
          <a:xfrm>
            <a:off x="2209165" y="1924685"/>
            <a:ext cx="8377555" cy="16764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3E7D9C">
                    <a:alpha val="25000"/>
                  </a:srgb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300" b="1" dirty="0">
                <a:ln w="0" cmpd="sng">
                  <a:noFill/>
                  <a:prstDash val="solid"/>
                </a:ln>
                <a:solidFill>
                  <a:srgbClr val="022943"/>
                </a:solidFill>
                <a:cs typeface="+mn-ea"/>
                <a:sym typeface="+mn-lt"/>
              </a:rPr>
              <a:t>软件工程综合实训</a:t>
            </a:r>
            <a:endParaRPr lang="zh-CN" altLang="en-US" sz="6300" b="1" dirty="0">
              <a:ln w="0" cmpd="sng">
                <a:noFill/>
                <a:prstDash val="solid"/>
              </a:ln>
              <a:solidFill>
                <a:srgbClr val="022943"/>
              </a:solidFill>
              <a:cs typeface="+mn-ea"/>
              <a:sym typeface="+mn-lt"/>
            </a:endParaRPr>
          </a:p>
          <a:p>
            <a:pPr algn="ctr"/>
            <a:r>
              <a:rPr lang="zh-CN" sz="4000" b="1" dirty="0">
                <a:ln w="0" cmpd="sng">
                  <a:noFill/>
                  <a:prstDash val="solid"/>
                </a:ln>
                <a:solidFill>
                  <a:srgbClr val="022943"/>
                </a:solidFill>
                <a:cs typeface="+mn-ea"/>
                <a:sym typeface="+mn-lt"/>
              </a:rPr>
              <a:t>研究生推免申报</a:t>
            </a:r>
            <a:r>
              <a:rPr sz="4000" b="1" dirty="0">
                <a:ln w="0" cmpd="sng">
                  <a:noFill/>
                  <a:prstDash val="solid"/>
                </a:ln>
                <a:solidFill>
                  <a:srgbClr val="022943"/>
                </a:solidFill>
                <a:cs typeface="+mn-ea"/>
                <a:sym typeface="+mn-lt"/>
              </a:rPr>
              <a:t>系统</a:t>
            </a:r>
            <a:endParaRPr sz="4000" b="1" dirty="0">
              <a:ln w="0" cmpd="sng">
                <a:noFill/>
                <a:prstDash val="solid"/>
              </a:ln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" name="明月 9"/>
          <p:cNvSpPr txBox="1"/>
          <p:nvPr/>
        </p:nvSpPr>
        <p:spPr>
          <a:xfrm>
            <a:off x="4461510" y="5049520"/>
            <a:ext cx="387350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D8D8E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l" fontAlgn="auto">
              <a:lnSpc>
                <a:spcPts val="2500"/>
              </a:lnSpc>
            </a:pPr>
            <a:r>
              <a:rPr lang="zh-CN" altLang="en-US" b="1" dirty="0" smtClean="0">
                <a:ln w="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组员：林晨、贾征强、唐昊晨、徐达</a:t>
            </a:r>
            <a:endParaRPr lang="zh-CN" altLang="en-US" dirty="0">
              <a:ln w="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明月 9"/>
          <p:cNvSpPr txBox="1"/>
          <p:nvPr/>
        </p:nvSpPr>
        <p:spPr>
          <a:xfrm>
            <a:off x="4461510" y="4085590"/>
            <a:ext cx="387350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D8D8E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l" fontAlgn="auto">
              <a:lnSpc>
                <a:spcPts val="2500"/>
              </a:lnSpc>
            </a:pPr>
            <a:r>
              <a:rPr lang="zh-CN" altLang="en-US" b="1" dirty="0" smtClean="0">
                <a:ln w="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组号：</a:t>
            </a:r>
            <a:r>
              <a:rPr lang="en-US" altLang="zh-CN" b="1" dirty="0" smtClean="0">
                <a:ln w="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20</a:t>
            </a:r>
            <a:endParaRPr lang="en-US" altLang="zh-CN" b="1" dirty="0" smtClean="0">
              <a:ln w="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明月 9"/>
          <p:cNvSpPr txBox="1"/>
          <p:nvPr/>
        </p:nvSpPr>
        <p:spPr>
          <a:xfrm>
            <a:off x="4461510" y="4567555"/>
            <a:ext cx="387350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D8D8E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l" fontAlgn="auto">
              <a:lnSpc>
                <a:spcPts val="2500"/>
              </a:lnSpc>
            </a:pPr>
            <a:r>
              <a:rPr lang="zh-CN" altLang="en-US" b="1" dirty="0" smtClean="0">
                <a:ln w="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组长：杨灏哲</a:t>
            </a:r>
            <a:endParaRPr lang="zh-CN" altLang="en-US" dirty="0">
              <a:ln w="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" grpId="1" bldLvl="0" animBg="1"/>
      <p:bldP spid="4" grpId="1" bldLvl="0" animBg="1"/>
      <p:bldP spid="5" grpId="1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70163" y="1454309"/>
            <a:ext cx="2570346" cy="1753235"/>
            <a:chOff x="5022683" y="2159124"/>
            <a:chExt cx="2570346" cy="1753235"/>
          </a:xfrm>
        </p:grpSpPr>
        <p:sp>
          <p:nvSpPr>
            <p:cNvPr id="5" name="文本框 4"/>
            <p:cNvSpPr txBox="1"/>
            <p:nvPr/>
          </p:nvSpPr>
          <p:spPr>
            <a:xfrm>
              <a:off x="5022683" y="2159124"/>
              <a:ext cx="2486526" cy="17532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6000" b="1" spc="600" dirty="0">
                  <a:solidFill>
                    <a:srgbClr val="022943"/>
                  </a:solidFill>
                  <a:cs typeface="+mn-ea"/>
                  <a:sym typeface="+mn-lt"/>
                </a:rPr>
                <a:t>目录</a:t>
              </a:r>
              <a:endParaRPr lang="zh-CN" altLang="en-US" sz="4800" b="1" spc="600" dirty="0">
                <a:solidFill>
                  <a:srgbClr val="022943"/>
                </a:solidFill>
                <a:cs typeface="+mn-ea"/>
                <a:sym typeface="+mn-lt"/>
              </a:endParaRPr>
            </a:p>
            <a:p>
              <a:pPr algn="l"/>
              <a:endParaRPr lang="zh-CN" altLang="en-US" sz="4800" b="1" spc="600" dirty="0">
                <a:solidFill>
                  <a:srgbClr val="022943"/>
                </a:solidFill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106503" y="3205243"/>
              <a:ext cx="2486526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rgbClr val="022943"/>
                  </a:solidFill>
                  <a:cs typeface="+mn-ea"/>
                  <a:sym typeface="+mn-lt"/>
                </a:rPr>
                <a:t>CONTENTS</a:t>
              </a:r>
              <a:endParaRPr lang="en-US" altLang="zh-CN" sz="2400" b="1" dirty="0">
                <a:solidFill>
                  <a:srgbClr val="022943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796788" y="1369060"/>
            <a:ext cx="2483925" cy="1015365"/>
            <a:chOff x="4292" y="-869"/>
            <a:chExt cx="3912" cy="1599"/>
          </a:xfrm>
        </p:grpSpPr>
        <p:sp>
          <p:nvSpPr>
            <p:cNvPr id="37" name="文本框 36"/>
            <p:cNvSpPr txBox="1"/>
            <p:nvPr/>
          </p:nvSpPr>
          <p:spPr>
            <a:xfrm>
              <a:off x="5676" y="-492"/>
              <a:ext cx="252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800" b="1" dirty="0">
                  <a:solidFill>
                    <a:srgbClr val="022943"/>
                  </a:solidFill>
                  <a:cs typeface="+mn-ea"/>
                  <a:sym typeface="+mn-lt"/>
                </a:rPr>
                <a:t>系统介绍</a:t>
              </a:r>
              <a:endParaRPr lang="zh-CN" altLang="en-US" sz="2800" b="1" dirty="0">
                <a:solidFill>
                  <a:srgbClr val="022943"/>
                </a:solidFill>
                <a:cs typeface="+mn-ea"/>
                <a:sym typeface="+mn-lt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292" y="-869"/>
              <a:ext cx="1518" cy="1599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6000" cap="all" dirty="0" smtClean="0">
                  <a:solidFill>
                    <a:srgbClr val="022943">
                      <a:alpha val="30000"/>
                    </a:srgbClr>
                  </a:solidFill>
                  <a:cs typeface="+mn-ea"/>
                  <a:sym typeface="+mn-lt"/>
                </a:rPr>
                <a:t>01</a:t>
              </a:r>
              <a:endParaRPr lang="en-US" altLang="zh-CN" sz="6000" b="1" cap="all" dirty="0" smtClean="0">
                <a:solidFill>
                  <a:srgbClr val="022943">
                    <a:alpha val="30000"/>
                  </a:srgb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796482" y="2384425"/>
            <a:ext cx="2483932" cy="1015365"/>
            <a:chOff x="-2512" y="1111"/>
            <a:chExt cx="3912" cy="1599"/>
          </a:xfrm>
        </p:grpSpPr>
        <p:sp>
          <p:nvSpPr>
            <p:cNvPr id="6" name="文本框 5"/>
            <p:cNvSpPr txBox="1"/>
            <p:nvPr/>
          </p:nvSpPr>
          <p:spPr>
            <a:xfrm>
              <a:off x="-1128" y="1512"/>
              <a:ext cx="252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800" b="1" dirty="0">
                  <a:solidFill>
                    <a:srgbClr val="022943"/>
                  </a:solidFill>
                  <a:cs typeface="+mn-ea"/>
                  <a:sym typeface="+mn-lt"/>
                </a:rPr>
                <a:t>系统设计</a:t>
              </a:r>
              <a:endParaRPr lang="zh-CN" altLang="en-US" sz="2800" b="1" dirty="0">
                <a:solidFill>
                  <a:srgbClr val="022943"/>
                </a:solidFill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-2512" y="1111"/>
              <a:ext cx="1518" cy="1599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6000" cap="all" dirty="0" smtClean="0">
                  <a:solidFill>
                    <a:srgbClr val="022943">
                      <a:alpha val="30000"/>
                    </a:srgbClr>
                  </a:solidFill>
                  <a:cs typeface="+mn-ea"/>
                  <a:sym typeface="+mn-lt"/>
                </a:rPr>
                <a:t>02</a:t>
              </a:r>
              <a:endParaRPr lang="en-US" altLang="zh-CN" sz="6000" b="1" cap="all" dirty="0" smtClean="0">
                <a:solidFill>
                  <a:srgbClr val="022943">
                    <a:alpha val="30000"/>
                  </a:srgb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796790" y="3392170"/>
            <a:ext cx="2523294" cy="1207770"/>
            <a:chOff x="4273" y="1116"/>
            <a:chExt cx="3974" cy="1902"/>
          </a:xfrm>
        </p:grpSpPr>
        <p:sp>
          <p:nvSpPr>
            <p:cNvPr id="12" name="文本框 11"/>
            <p:cNvSpPr txBox="1"/>
            <p:nvPr/>
          </p:nvSpPr>
          <p:spPr>
            <a:xfrm>
              <a:off x="5719" y="1517"/>
              <a:ext cx="2528" cy="15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800" b="1" dirty="0">
                  <a:solidFill>
                    <a:srgbClr val="022943"/>
                  </a:solidFill>
                  <a:cs typeface="+mn-ea"/>
                  <a:sym typeface="+mn-lt"/>
                </a:rPr>
                <a:t>系统演示</a:t>
              </a:r>
              <a:endParaRPr lang="zh-CN" altLang="en-US" sz="2800" b="1" dirty="0">
                <a:solidFill>
                  <a:srgbClr val="022943"/>
                </a:solidFill>
                <a:cs typeface="+mn-ea"/>
                <a:sym typeface="+mn-lt"/>
              </a:endParaRPr>
            </a:p>
            <a:p>
              <a:pPr algn="l"/>
              <a:endParaRPr lang="zh-CN" altLang="en-US" sz="2800" b="1" dirty="0">
                <a:solidFill>
                  <a:srgbClr val="022943"/>
                </a:solidFill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273" y="1116"/>
              <a:ext cx="1518" cy="1599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6000" cap="all" dirty="0" smtClean="0">
                  <a:solidFill>
                    <a:srgbClr val="022943">
                      <a:alpha val="33000"/>
                    </a:srgbClr>
                  </a:solidFill>
                  <a:cs typeface="+mn-ea"/>
                  <a:sym typeface="+mn-lt"/>
                </a:rPr>
                <a:t>03</a:t>
              </a:r>
              <a:endParaRPr lang="en-US" altLang="zh-CN" sz="6000" b="1" cap="all" dirty="0" smtClean="0">
                <a:solidFill>
                  <a:srgbClr val="022943">
                    <a:alpha val="33000"/>
                  </a:srgb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796790" y="4415790"/>
            <a:ext cx="3229994" cy="1014730"/>
            <a:chOff x="4280" y="1117"/>
            <a:chExt cx="5087" cy="1598"/>
          </a:xfrm>
        </p:grpSpPr>
        <p:sp>
          <p:nvSpPr>
            <p:cNvPr id="8" name="文本框 7"/>
            <p:cNvSpPr txBox="1"/>
            <p:nvPr/>
          </p:nvSpPr>
          <p:spPr>
            <a:xfrm>
              <a:off x="5719" y="1517"/>
              <a:ext cx="364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800" b="1" dirty="0">
                  <a:solidFill>
                    <a:srgbClr val="022943"/>
                  </a:solidFill>
                  <a:cs typeface="+mn-ea"/>
                  <a:sym typeface="+mn-lt"/>
                </a:rPr>
                <a:t>个人工作介绍</a:t>
              </a:r>
              <a:endParaRPr lang="zh-CN" altLang="en-US" sz="2800" b="1" dirty="0">
                <a:solidFill>
                  <a:srgbClr val="022943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280" y="1117"/>
              <a:ext cx="1504" cy="15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6000" cap="all" dirty="0" smtClean="0">
                  <a:solidFill>
                    <a:srgbClr val="022943">
                      <a:alpha val="33000"/>
                    </a:srgbClr>
                  </a:solidFill>
                  <a:cs typeface="+mn-ea"/>
                  <a:sym typeface="+mn-lt"/>
                </a:rPr>
                <a:t>04</a:t>
              </a:r>
              <a:endParaRPr lang="en-US" altLang="zh-CN" sz="6000" b="1" cap="all" dirty="0" smtClean="0">
                <a:solidFill>
                  <a:srgbClr val="022943">
                    <a:alpha val="33000"/>
                  </a:srgb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菱形 3"/>
          <p:cNvSpPr/>
          <p:nvPr/>
        </p:nvSpPr>
        <p:spPr>
          <a:xfrm>
            <a:off x="5533390" y="1605280"/>
            <a:ext cx="1125220" cy="112522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cs typeface="+mn-ea"/>
                <a:sym typeface="+mn-lt"/>
              </a:rPr>
              <a:t>1</a:t>
            </a:r>
            <a:endParaRPr lang="en-US" altLang="zh-CN" sz="2800">
              <a:cs typeface="+mn-ea"/>
              <a:sym typeface="+mn-lt"/>
            </a:endParaRPr>
          </a:p>
        </p:txBody>
      </p:sp>
      <p:sp>
        <p:nvSpPr>
          <p:cNvPr id="5" name="标题 7"/>
          <p:cNvSpPr>
            <a:spLocks noGrp="1"/>
          </p:cNvSpPr>
          <p:nvPr/>
        </p:nvSpPr>
        <p:spPr>
          <a:xfrm>
            <a:off x="3609975" y="3197225"/>
            <a:ext cx="4973320" cy="6661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>
                <a:solidFill>
                  <a:srgbClr val="022943"/>
                </a:solidFill>
                <a:latin typeface="+mn-lt"/>
                <a:ea typeface="+mn-ea"/>
                <a:cs typeface="+mn-ea"/>
                <a:sym typeface="+mn-lt"/>
              </a:rPr>
              <a:t>系统介绍</a:t>
            </a:r>
            <a:endParaRPr lang="zh-CN" altLang="en-US" sz="4800">
              <a:solidFill>
                <a:srgbClr val="02294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369560" y="4047490"/>
            <a:ext cx="1454785" cy="147320"/>
          </a:xfrm>
          <a:prstGeom prst="roundRect">
            <a:avLst>
              <a:gd name="adj" fmla="val 50000"/>
            </a:avLst>
          </a:prstGeom>
          <a:solidFill>
            <a:srgbClr val="04C3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1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系统简介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1531620"/>
            <a:ext cx="9743440" cy="1993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项目开发某一个学校的推免报名系统，学生通过系统进行报名，提写个人信息、家庭成员、竞赛获奖、科研经历、社会实践等信息，然后填报志愿，管理员对学生的信息进行审核，通知学生审核的结果，给审核通过的学生发送复试通知，学生选择是否接受复试，如果接受复试，管理员会</a:t>
            </a:r>
            <a:r>
              <a:rPr lang="zh-CN" altLang="en-US" b="1">
                <a:sym typeface="+mn-ea"/>
              </a:rPr>
              <a:t>通知学生复试的结果，</a:t>
            </a:r>
            <a:r>
              <a:rPr lang="zh-CN" altLang="en-US" b="1">
                <a:sym typeface="+mn-ea"/>
              </a:rPr>
              <a:t>如果通过</a:t>
            </a:r>
            <a:r>
              <a:rPr lang="zh-CN" altLang="en-US" b="1">
                <a:sym typeface="+mn-ea"/>
              </a:rPr>
              <a:t>会给学生发送拟录取通知，</a:t>
            </a:r>
            <a:r>
              <a:rPr lang="zh-CN" altLang="en-US" b="1">
                <a:sym typeface="+mn-ea"/>
              </a:rPr>
              <a:t>学生选择是否接受拟录取，如果</a:t>
            </a:r>
            <a:r>
              <a:rPr lang="zh-CN" altLang="en-US" b="1">
                <a:sym typeface="+mn-ea"/>
              </a:rPr>
              <a:t>接受拟录取，即可成功录取。</a:t>
            </a:r>
            <a:endParaRPr lang="zh-CN" altLang="en-US" b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55515" y="5862320"/>
            <a:ext cx="2463800" cy="432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推免总体流程图</a:t>
            </a:r>
            <a:endParaRPr lang="zh-CN" altLang="en-US">
              <a:sym typeface="+mn-ea"/>
            </a:endParaRPr>
          </a:p>
        </p:txBody>
      </p:sp>
      <p:pic>
        <p:nvPicPr>
          <p:cNvPr id="6" name="图片 5" descr="推免流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390" y="3042920"/>
            <a:ext cx="9120505" cy="28670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1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系统功能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178040" y="488315"/>
          <a:ext cx="3125470" cy="5509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625"/>
                <a:gridCol w="863600"/>
                <a:gridCol w="1579245"/>
              </a:tblGrid>
              <a:tr h="1530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角色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模块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功能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rowSpan="25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登录注册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学生注册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学生登录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注意事项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查看学生注意事项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基本信息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填写基本信息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修改基本信息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家庭成员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添加家庭成员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修改家庭成员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删除家庭成员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竞赛获奖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添加竞赛获奖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修改竞赛获奖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删除竞赛获奖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科研经历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添加科研经历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修改科研经历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删除科研经历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社会实践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添加社会实践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修改社会实践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删除社会实践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志愿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添加志愿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修改志愿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删除志愿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提交志愿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复试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接受复试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拒绝复试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拟录取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接受拟录取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拒绝拟录取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rowSpan="10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管理员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登录注册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管理员登录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志愿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修改志愿信息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查看学生信息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审核通过，发复试通知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审核不通过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复试通过，发拟录取通知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复试不通过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录取名单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查看录取名单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查看学生详细信息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3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导出录取名单（excel）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115695" y="1531620"/>
            <a:ext cx="5391150" cy="4814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系统的角色有学生和管理员。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学生端主要有登录注册、基本信息、家庭成员、竞赛获奖、科研经历、社会实践、志愿、复试、拟录取的模块。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管理员端主要有登录、志愿管理、录取名单的模块。</a:t>
            </a:r>
            <a:endParaRPr lang="zh-CN" altLang="en-US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16545" y="6045200"/>
            <a:ext cx="2463800" cy="432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系统功能表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1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成员分工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181100" y="1530350"/>
          <a:ext cx="6729730" cy="26898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1280"/>
                <a:gridCol w="5378450"/>
              </a:tblGrid>
              <a:tr h="2241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姓名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负责工作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2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杨灏哲（组长）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项目开发环境的配置，开发框架的搭建，数据库的建立，志愿模块、复试模块、拟录取模块、管理员模块的代码编写，项目的部署，项目开发计划书、用户手册、项目开发总结等文档的编写。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8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林晨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个人信息、科研竞赛、社会实践模块的代码编写，项目的部署，模块开发卷宗、测试计划等文档的编写。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贾征强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数据库的建立，登录模块、注册模块的代码编写，概要设计说明书、数据库设计说明书、操作手册等文档的编写。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8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唐昊晨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个人信息模块、志愿模块、管理员模块的测试工作，详细设计说明书、测试分析计划等文档的编写。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徐达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登录模块、注册模块的测试工作，软件需求说明书、编码规范等文档的编写。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5533390" y="1605280"/>
            <a:ext cx="1125220" cy="112522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cs typeface="+mn-ea"/>
                <a:sym typeface="+mn-lt"/>
              </a:rPr>
              <a:t>2</a:t>
            </a:r>
            <a:endParaRPr lang="en-US" altLang="zh-CN" sz="2800">
              <a:cs typeface="+mn-ea"/>
              <a:sym typeface="+mn-lt"/>
            </a:endParaRPr>
          </a:p>
        </p:txBody>
      </p:sp>
      <p:sp>
        <p:nvSpPr>
          <p:cNvPr id="20" name="标题 7"/>
          <p:cNvSpPr>
            <a:spLocks noGrp="1"/>
          </p:cNvSpPr>
          <p:nvPr/>
        </p:nvSpPr>
        <p:spPr>
          <a:xfrm>
            <a:off x="3609975" y="3197225"/>
            <a:ext cx="4973320" cy="6661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>
                <a:solidFill>
                  <a:srgbClr val="022943"/>
                </a:solidFill>
                <a:latin typeface="+mn-lt"/>
                <a:ea typeface="+mn-ea"/>
                <a:cs typeface="+mn-ea"/>
                <a:sym typeface="+mn-lt"/>
              </a:rPr>
              <a:t>系统设计</a:t>
            </a:r>
            <a:endParaRPr lang="zh-CN" altLang="en-US" sz="4800">
              <a:solidFill>
                <a:srgbClr val="02294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369560" y="4047490"/>
            <a:ext cx="1454785" cy="147320"/>
          </a:xfrm>
          <a:prstGeom prst="roundRect">
            <a:avLst>
              <a:gd name="adj" fmla="val 50000"/>
            </a:avLst>
          </a:prstGeom>
          <a:solidFill>
            <a:srgbClr val="04C3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2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系统开发环境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1323340"/>
            <a:ext cx="9808845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开发环境</a:t>
            </a:r>
            <a:endParaRPr lang="zh-CN" altLang="en-US" b="1"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操作系统：</a:t>
            </a:r>
            <a:r>
              <a:rPr lang="en-US" altLang="zh-CN" b="1">
                <a:sym typeface="+mn-ea"/>
              </a:rPr>
              <a:t>Windows 11</a:t>
            </a:r>
            <a:r>
              <a:rPr lang="zh-CN" altLang="en-US" b="1">
                <a:sym typeface="+mn-ea"/>
              </a:rPr>
              <a:t>（开发）、</a:t>
            </a:r>
            <a:r>
              <a:rPr lang="en-US" altLang="zh-CN" b="1">
                <a:sym typeface="+mn-ea"/>
              </a:rPr>
              <a:t>Linux</a:t>
            </a:r>
            <a:r>
              <a:rPr lang="zh-CN" altLang="en-US" b="1">
                <a:sym typeface="+mn-ea"/>
              </a:rPr>
              <a:t>（部署）</a:t>
            </a:r>
            <a:endParaRPr lang="zh-CN" altLang="en-US" b="1"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IDE</a:t>
            </a:r>
            <a:r>
              <a:rPr lang="zh-CN" altLang="en-US" b="1">
                <a:sym typeface="+mn-ea"/>
              </a:rPr>
              <a:t>：</a:t>
            </a:r>
            <a:r>
              <a:rPr lang="en-US" altLang="zh-CN" b="1">
                <a:sym typeface="+mn-ea"/>
              </a:rPr>
              <a:t>IntelliJ IDEA Ultimate 2022</a:t>
            </a:r>
            <a:endParaRPr lang="zh-CN" altLang="en-US" b="1"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数据库：</a:t>
            </a:r>
            <a:r>
              <a:rPr lang="en-US" altLang="zh-CN" b="1">
                <a:sym typeface="+mn-ea"/>
              </a:rPr>
              <a:t>MySql 8.0</a:t>
            </a:r>
            <a:endParaRPr lang="en-US" altLang="zh-CN" b="1"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tx1"/>
                </a:solidFill>
                <a:sym typeface="+mn-ea"/>
              </a:rPr>
              <a:t>语言：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Java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JavaScript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Html</a:t>
            </a:r>
            <a:endParaRPr lang="en-US" altLang="zh-CN" b="1">
              <a:solidFill>
                <a:schemeClr val="tx1"/>
              </a:solidFill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tx1"/>
                </a:solidFill>
                <a:sym typeface="+mn-ea"/>
              </a:rPr>
              <a:t>框架：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sym typeface="+mn-ea"/>
              </a:rPr>
              <a:t>Bootstrap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：一组开源前端框架，包括HTML、CSS及JavaScript的框架。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sym typeface="+mn-ea"/>
              </a:rPr>
              <a:t>Jquery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：一个快速、简洁的JavaScript框架，封装JavaScript常用的功能代码。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sym typeface="+mn-ea"/>
              </a:rPr>
              <a:t>Springboot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：Spring框架是Java平台上的一种开源应用框架，</a:t>
            </a:r>
            <a:r>
              <a:rPr lang="en-US" altLang="zh-CN" b="1">
                <a:sym typeface="+mn-ea"/>
              </a:rPr>
              <a:t>Springboot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是用来简化新Spring应用的初始搭建以及开发过程。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sym typeface="+mn-ea"/>
              </a:rPr>
              <a:t>Mybatis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：是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java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的持久层框架，</a:t>
            </a:r>
            <a:r>
              <a:rPr lang="en-US" altLang="zh-CN" b="1">
                <a:sym typeface="+mn-ea"/>
              </a:rPr>
              <a:t>直接针对数据库操作，实现增删改查操作</a:t>
            </a: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tx1"/>
                </a:solidFill>
                <a:sym typeface="+mn-ea"/>
              </a:rPr>
              <a:t>其他工具：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Postman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（调试后端接口）、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Git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（版本控制）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2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系统整体框架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1323340"/>
            <a:ext cx="5765800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项目使用前后端分离的架构。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前端包括</a:t>
            </a:r>
            <a:r>
              <a:rPr lang="en-US" altLang="zh-CN" b="1">
                <a:sym typeface="+mn-ea"/>
              </a:rPr>
              <a:t>Html</a:t>
            </a:r>
            <a:r>
              <a:rPr lang="zh-CN" altLang="en-US" b="1">
                <a:sym typeface="+mn-ea"/>
              </a:rPr>
              <a:t>界面和</a:t>
            </a:r>
            <a:r>
              <a:rPr lang="en-US" altLang="zh-CN" b="1">
                <a:sym typeface="+mn-ea"/>
              </a:rPr>
              <a:t>JS</a:t>
            </a:r>
            <a:r>
              <a:rPr lang="zh-CN" altLang="en-US" b="1">
                <a:sym typeface="+mn-ea"/>
              </a:rPr>
              <a:t>脚本。</a:t>
            </a:r>
            <a:r>
              <a:rPr lang="en-US" altLang="zh-CN" b="1">
                <a:sym typeface="+mn-ea"/>
              </a:rPr>
              <a:t>Html</a:t>
            </a:r>
            <a:r>
              <a:rPr lang="zh-CN" altLang="en-US" b="1">
                <a:sym typeface="+mn-ea"/>
              </a:rPr>
              <a:t>是超文本标记语言，在网页上提供静态内容。</a:t>
            </a:r>
            <a:r>
              <a:rPr lang="en-US" altLang="zh-CN" b="1">
                <a:sym typeface="+mn-ea"/>
              </a:rPr>
              <a:t>JS向静态网页添加动态功能</a:t>
            </a:r>
            <a:r>
              <a:rPr lang="zh-CN" altLang="en-US" b="1">
                <a:sym typeface="+mn-ea"/>
              </a:rPr>
              <a:t>，动态渲染</a:t>
            </a:r>
            <a:r>
              <a:rPr lang="en-US" altLang="zh-CN" b="1">
                <a:sym typeface="+mn-ea"/>
              </a:rPr>
              <a:t>Html</a:t>
            </a:r>
            <a:r>
              <a:rPr lang="zh-CN" altLang="en-US" b="1">
                <a:sym typeface="+mn-ea"/>
              </a:rPr>
              <a:t>界面上的内容，并进行与后端</a:t>
            </a:r>
            <a:r>
              <a:rPr lang="en-US" altLang="zh-CN" b="1">
                <a:sym typeface="+mn-ea"/>
              </a:rPr>
              <a:t>Controller</a:t>
            </a:r>
            <a:r>
              <a:rPr lang="zh-CN" altLang="en-US" b="1">
                <a:sym typeface="+mn-ea"/>
              </a:rPr>
              <a:t>层的交互。</a:t>
            </a:r>
            <a:endParaRPr lang="en-US" altLang="zh-CN" b="1">
              <a:sym typeface="+mn-ea"/>
            </a:endParaRPr>
          </a:p>
          <a:p>
            <a:endParaRPr lang="en-US" altLang="zh-CN" b="1">
              <a:sym typeface="+mn-ea"/>
            </a:endParaRPr>
          </a:p>
          <a:p>
            <a:r>
              <a:rPr lang="zh-CN" altLang="en-US" b="1">
                <a:sym typeface="+mn-ea"/>
              </a:rPr>
              <a:t>后端包括</a:t>
            </a:r>
            <a:r>
              <a:rPr lang="en-US" altLang="zh-CN" b="1">
                <a:sym typeface="+mn-ea"/>
              </a:rPr>
              <a:t>Controller</a:t>
            </a:r>
            <a:r>
              <a:rPr lang="zh-CN" altLang="en-US" b="1">
                <a:sym typeface="+mn-ea"/>
              </a:rPr>
              <a:t>层和</a:t>
            </a:r>
            <a:r>
              <a:rPr lang="en-US" altLang="zh-CN" b="1">
                <a:sym typeface="+mn-ea"/>
              </a:rPr>
              <a:t>Mapper</a:t>
            </a:r>
            <a:r>
              <a:rPr lang="zh-CN" altLang="en-US" b="1">
                <a:sym typeface="+mn-ea"/>
              </a:rPr>
              <a:t>层。</a:t>
            </a:r>
            <a:r>
              <a:rPr lang="en-US" altLang="zh-CN" b="1">
                <a:sym typeface="+mn-ea"/>
              </a:rPr>
              <a:t>Controller</a:t>
            </a:r>
            <a:r>
              <a:rPr lang="zh-CN" altLang="en-US" b="1">
                <a:sym typeface="+mn-ea"/>
              </a:rPr>
              <a:t>层</a:t>
            </a:r>
            <a:r>
              <a:rPr lang="zh-CN" altLang="en-US" b="1">
                <a:sym typeface="+mn-ea"/>
              </a:rPr>
              <a:t>通过接收前端传过来的参数进行操作，再将处理结果返回到前端。</a:t>
            </a:r>
            <a:r>
              <a:rPr lang="en-US" altLang="zh-CN" b="1">
                <a:sym typeface="+mn-ea"/>
              </a:rPr>
              <a:t>Mapper</a:t>
            </a:r>
            <a:r>
              <a:rPr lang="zh-CN" altLang="en-US" b="1">
                <a:sym typeface="+mn-ea"/>
              </a:rPr>
              <a:t>层</a:t>
            </a:r>
            <a:r>
              <a:rPr lang="zh-CN" altLang="en-US" b="1">
                <a:sym typeface="+mn-ea"/>
              </a:rPr>
              <a:t>对数据库进行数据持久化操作，</a:t>
            </a:r>
            <a:r>
              <a:rPr lang="en-US" altLang="zh-CN" b="1">
                <a:sym typeface="+mn-ea"/>
              </a:rPr>
              <a:t>Mapper</a:t>
            </a:r>
            <a:r>
              <a:rPr lang="zh-CN" altLang="en-US" b="1">
                <a:sym typeface="+mn-ea"/>
              </a:rPr>
              <a:t>层的方法和语句是直接针对数据库操作的。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5355" y="1216025"/>
            <a:ext cx="4207510" cy="36696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2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前端设计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535305"/>
            <a:ext cx="5613400" cy="2833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1510" y="1323340"/>
            <a:ext cx="4554220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项目前端主要采用</a:t>
            </a:r>
            <a:r>
              <a:rPr lang="zh-CN" altLang="en-US" b="1">
                <a:sym typeface="+mn-ea"/>
              </a:rPr>
              <a:t>Gentelella</a:t>
            </a:r>
            <a:r>
              <a:rPr lang="en-US" altLang="zh-CN" b="1">
                <a:sym typeface="+mn-ea"/>
              </a:rPr>
              <a:t> Admin</a:t>
            </a:r>
            <a:r>
              <a:rPr lang="zh-CN" altLang="en-US" b="1">
                <a:sym typeface="+mn-ea"/>
              </a:rPr>
              <a:t>模板，界面左侧导航栏实现界面的跳转，顶部公共部分可以实现收缩导航栏和退出登录功能。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页面的表格主要使用</a:t>
            </a:r>
            <a:r>
              <a:rPr lang="en-US" altLang="zh-CN" b="1">
                <a:sym typeface="+mn-ea"/>
              </a:rPr>
              <a:t>BootstrapTable</a:t>
            </a:r>
            <a:r>
              <a:rPr lang="zh-CN" altLang="en-US" b="1">
                <a:sym typeface="+mn-ea"/>
              </a:rPr>
              <a:t>组件，使用分页查询的方式显示内容。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页面的</a:t>
            </a:r>
            <a:r>
              <a:rPr lang="en-US" altLang="zh-CN" b="1">
                <a:sym typeface="+mn-ea"/>
              </a:rPr>
              <a:t>url</a:t>
            </a:r>
            <a:r>
              <a:rPr lang="zh-CN" altLang="en-US" b="1">
                <a:sym typeface="+mn-ea"/>
              </a:rPr>
              <a:t>请求主要使用</a:t>
            </a:r>
            <a:r>
              <a:rPr lang="en-US" altLang="zh-CN" b="1">
                <a:sym typeface="+mn-ea"/>
              </a:rPr>
              <a:t>jquery</a:t>
            </a:r>
            <a:r>
              <a:rPr lang="zh-CN" altLang="en-US" b="1">
                <a:sym typeface="+mn-ea"/>
              </a:rPr>
              <a:t>的</a:t>
            </a:r>
            <a:r>
              <a:rPr lang="en-US" altLang="zh-CN" b="1">
                <a:sym typeface="+mn-ea"/>
              </a:rPr>
              <a:t>ajax</a:t>
            </a:r>
            <a:r>
              <a:rPr lang="zh-CN" altLang="en-US" b="1">
                <a:sym typeface="+mn-ea"/>
              </a:rPr>
              <a:t>异步提交方法发送到后端的</a:t>
            </a:r>
            <a:r>
              <a:rPr lang="en-US" altLang="zh-CN" b="1">
                <a:sym typeface="+mn-ea"/>
              </a:rPr>
              <a:t>Controller</a:t>
            </a:r>
            <a:r>
              <a:rPr lang="zh-CN" altLang="en-US" b="1">
                <a:sym typeface="+mn-ea"/>
              </a:rPr>
              <a:t>。前端接收后端返回的数据，利用</a:t>
            </a:r>
            <a:r>
              <a:rPr lang="en-US" altLang="zh-CN" b="1">
                <a:sym typeface="+mn-ea"/>
              </a:rPr>
              <a:t>ajax</a:t>
            </a:r>
            <a:r>
              <a:rPr lang="zh-CN" altLang="en-US" b="1">
                <a:sym typeface="+mn-ea"/>
              </a:rPr>
              <a:t>的</a:t>
            </a:r>
            <a:r>
              <a:rPr lang="en-US" altLang="zh-CN" b="1">
                <a:sym typeface="+mn-ea"/>
              </a:rPr>
              <a:t>success</a:t>
            </a:r>
            <a:r>
              <a:rPr lang="zh-CN" altLang="en-US" b="1">
                <a:sym typeface="+mn-ea"/>
              </a:rPr>
              <a:t>的方法进行处理。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页面的表单验证主要使用</a:t>
            </a:r>
            <a:r>
              <a:rPr lang="en-US" altLang="zh-CN" b="1">
                <a:sym typeface="+mn-ea"/>
              </a:rPr>
              <a:t>BootstrapValidator</a:t>
            </a:r>
            <a:r>
              <a:rPr lang="zh-CN" altLang="en-US" b="1">
                <a:sym typeface="+mn-ea"/>
              </a:rPr>
              <a:t>组件来实现，可以在输入同时进行验证。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页面的弹出层主要使用</a:t>
            </a:r>
            <a:r>
              <a:rPr lang="en-US" altLang="zh-CN" b="1">
                <a:sym typeface="+mn-ea"/>
              </a:rPr>
              <a:t>Layer</a:t>
            </a:r>
            <a:r>
              <a:rPr lang="zh-CN" altLang="en-US" b="1">
                <a:sym typeface="+mn-ea"/>
              </a:rPr>
              <a:t>组件来实现，并可以将父页面的值传到弹出层页面。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488055"/>
            <a:ext cx="5612765" cy="27158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2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后端设计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1510" y="1323340"/>
            <a:ext cx="5299075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项目</a:t>
            </a:r>
            <a:r>
              <a:rPr lang="zh-CN" b="1">
                <a:sym typeface="+mn-ea"/>
              </a:rPr>
              <a:t>后端的</a:t>
            </a:r>
            <a:r>
              <a:rPr lang="en-US" altLang="zh-CN" b="1">
                <a:sym typeface="+mn-ea"/>
              </a:rPr>
              <a:t>Controller</a:t>
            </a:r>
            <a:r>
              <a:rPr lang="zh-CN" altLang="en-US" b="1">
                <a:sym typeface="+mn-ea"/>
              </a:rPr>
              <a:t>层根据接收到的</a:t>
            </a:r>
            <a:r>
              <a:rPr lang="en-US" altLang="zh-CN" b="1">
                <a:sym typeface="+mn-ea"/>
              </a:rPr>
              <a:t>url</a:t>
            </a:r>
            <a:r>
              <a:rPr lang="zh-CN" altLang="en-US" b="1">
                <a:sym typeface="+mn-ea"/>
              </a:rPr>
              <a:t>来进行映射，返回数据或者页面的跳转。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en-US" altLang="zh-CN" b="1">
                <a:sym typeface="+mn-ea"/>
              </a:rPr>
              <a:t>Mapper</a:t>
            </a:r>
            <a:r>
              <a:rPr lang="zh-CN" altLang="en-US" b="1">
                <a:sym typeface="+mn-ea"/>
              </a:rPr>
              <a:t>层直接对数据库进行操作，用</a:t>
            </a:r>
            <a:r>
              <a:rPr lang="en-US" altLang="zh-CN" b="1">
                <a:sym typeface="+mn-ea"/>
              </a:rPr>
              <a:t>sql</a:t>
            </a:r>
            <a:r>
              <a:rPr lang="zh-CN" altLang="en-US" b="1">
                <a:sym typeface="+mn-ea"/>
              </a:rPr>
              <a:t>语句实现增删改查。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后端使用</a:t>
            </a:r>
            <a:r>
              <a:rPr lang="en-US" altLang="zh-CN" b="1">
                <a:sym typeface="+mn-ea"/>
              </a:rPr>
              <a:t>Session</a:t>
            </a:r>
            <a:r>
              <a:rPr lang="zh-CN" altLang="en-US" b="1">
                <a:sym typeface="+mn-ea"/>
              </a:rPr>
              <a:t>来存储用户登录时填写的信息，在后续的界面中只需要在</a:t>
            </a:r>
            <a:r>
              <a:rPr lang="en-US" altLang="zh-CN" b="1">
                <a:sym typeface="+mn-ea"/>
              </a:rPr>
              <a:t>session</a:t>
            </a:r>
            <a:r>
              <a:rPr lang="zh-CN" altLang="en-US" b="1">
                <a:sym typeface="+mn-ea"/>
              </a:rPr>
              <a:t>中查询用户的信息。</a:t>
            </a:r>
            <a:r>
              <a:rPr lang="en-US" altLang="zh-CN" b="1">
                <a:sym typeface="+mn-ea"/>
              </a:rPr>
              <a:t>session</a:t>
            </a:r>
            <a:r>
              <a:rPr lang="zh-CN" altLang="en-US" b="1">
                <a:sym typeface="+mn-ea"/>
              </a:rPr>
              <a:t>相比</a:t>
            </a:r>
            <a:r>
              <a:rPr lang="en-US" altLang="zh-CN" b="1">
                <a:sym typeface="+mn-ea"/>
              </a:rPr>
              <a:t>cookie</a:t>
            </a:r>
            <a:r>
              <a:rPr lang="zh-CN" altLang="en-US" b="1">
                <a:sym typeface="+mn-ea"/>
              </a:rPr>
              <a:t>的好处是：</a:t>
            </a:r>
            <a:r>
              <a:rPr lang="en-US" altLang="zh-CN" b="1">
                <a:sym typeface="+mn-ea"/>
              </a:rPr>
              <a:t>session</a:t>
            </a:r>
            <a:r>
              <a:rPr lang="zh-CN" altLang="en-US" b="1">
                <a:sym typeface="+mn-ea"/>
              </a:rPr>
              <a:t>保存在服务器端，安全性更高。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285" y="4492625"/>
            <a:ext cx="2868295" cy="17754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595" y="4622165"/>
            <a:ext cx="3306445" cy="15170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055" y="480060"/>
            <a:ext cx="4161790" cy="58985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2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数据库设计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1323340"/>
            <a:ext cx="5765800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b="1">
                <a:sym typeface="+mn-ea"/>
              </a:rPr>
              <a:t>数据库使用的是</a:t>
            </a:r>
            <a:r>
              <a:rPr lang="en-US" altLang="zh-CN" b="1">
                <a:sym typeface="+mn-ea"/>
              </a:rPr>
              <a:t>MySql</a:t>
            </a:r>
            <a:r>
              <a:rPr lang="zh-CN" altLang="en-US" b="1">
                <a:sym typeface="+mn-ea"/>
              </a:rPr>
              <a:t>数据库。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数据库有</a:t>
            </a:r>
            <a:r>
              <a:rPr lang="en-US" altLang="zh-CN" b="1">
                <a:sym typeface="+mn-ea"/>
              </a:rPr>
              <a:t>6</a:t>
            </a:r>
            <a:r>
              <a:rPr lang="zh-CN" altLang="en-US" b="1">
                <a:sym typeface="+mn-ea"/>
              </a:rPr>
              <a:t>个表</a:t>
            </a:r>
            <a:endParaRPr lang="zh-CN" altLang="en-US" b="1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用户表（</a:t>
            </a:r>
            <a:r>
              <a:rPr lang="en-US" altLang="zh-CN" b="1">
                <a:sym typeface="+mn-ea"/>
              </a:rPr>
              <a:t>user</a:t>
            </a:r>
            <a:r>
              <a:rPr lang="zh-CN" altLang="en-US" b="1">
                <a:sym typeface="+mn-ea"/>
              </a:rPr>
              <a:t>）</a:t>
            </a:r>
            <a:endParaRPr lang="zh-CN" altLang="en-US" b="1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家庭成员表（</a:t>
            </a:r>
            <a:r>
              <a:rPr lang="en-US" altLang="zh-CN" b="1">
                <a:sym typeface="+mn-ea"/>
              </a:rPr>
              <a:t>family</a:t>
            </a:r>
            <a:r>
              <a:rPr lang="zh-CN" altLang="en-US" b="1">
                <a:sym typeface="+mn-ea"/>
              </a:rPr>
              <a:t>）</a:t>
            </a:r>
            <a:endParaRPr lang="zh-CN" altLang="en-US" b="1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竞赛获奖表（</a:t>
            </a:r>
            <a:r>
              <a:rPr lang="en-US" altLang="zh-CN" b="1">
                <a:sym typeface="+mn-ea"/>
              </a:rPr>
              <a:t>prize</a:t>
            </a:r>
            <a:r>
              <a:rPr lang="zh-CN" altLang="en-US" b="1">
                <a:sym typeface="+mn-ea"/>
              </a:rPr>
              <a:t>）</a:t>
            </a:r>
            <a:endParaRPr lang="zh-CN" altLang="en-US" b="1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科研经历表（</a:t>
            </a:r>
            <a:r>
              <a:rPr lang="en-US" altLang="zh-CN" b="1">
                <a:sym typeface="+mn-ea"/>
              </a:rPr>
              <a:t>research</a:t>
            </a:r>
            <a:r>
              <a:rPr lang="zh-CN" altLang="en-US" b="1">
                <a:sym typeface="+mn-ea"/>
              </a:rPr>
              <a:t>）</a:t>
            </a:r>
            <a:endParaRPr lang="zh-CN" altLang="en-US" b="1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社会实践表（</a:t>
            </a:r>
            <a:r>
              <a:rPr lang="en-US" altLang="zh-CN" b="1">
                <a:sym typeface="+mn-ea"/>
              </a:rPr>
              <a:t>social</a:t>
            </a:r>
            <a:r>
              <a:rPr lang="zh-CN" altLang="en-US" b="1">
                <a:sym typeface="+mn-ea"/>
              </a:rPr>
              <a:t>）</a:t>
            </a:r>
            <a:endParaRPr lang="zh-CN" altLang="en-US" b="1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志愿表（</a:t>
            </a:r>
            <a:r>
              <a:rPr lang="en-US" altLang="zh-CN" b="1">
                <a:sym typeface="+mn-ea"/>
              </a:rPr>
              <a:t>application</a:t>
            </a:r>
            <a:r>
              <a:rPr lang="zh-CN" altLang="en-US" b="1">
                <a:sym typeface="+mn-ea"/>
              </a:rPr>
              <a:t>）</a:t>
            </a:r>
            <a:endParaRPr lang="zh-CN" altLang="en-US" b="1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家庭成员表</a:t>
            </a:r>
            <a:r>
              <a:rPr lang="zh-CN" b="1">
                <a:sym typeface="+mn-ea"/>
              </a:rPr>
              <a:t>、</a:t>
            </a:r>
            <a:r>
              <a:rPr lang="zh-CN" altLang="en-US" b="1">
                <a:sym typeface="+mn-ea"/>
              </a:rPr>
              <a:t>竞赛获奖表</a:t>
            </a:r>
            <a:r>
              <a:rPr lang="zh-CN" b="1">
                <a:sym typeface="+mn-ea"/>
              </a:rPr>
              <a:t>、</a:t>
            </a:r>
            <a:r>
              <a:rPr lang="zh-CN" altLang="en-US" b="1">
                <a:sym typeface="+mn-ea"/>
              </a:rPr>
              <a:t>科研经历表</a:t>
            </a:r>
            <a:r>
              <a:rPr lang="zh-CN" b="1">
                <a:sym typeface="+mn-ea"/>
              </a:rPr>
              <a:t>、</a:t>
            </a:r>
            <a:r>
              <a:rPr lang="zh-CN" altLang="en-US" b="1">
                <a:sym typeface="+mn-ea"/>
              </a:rPr>
              <a:t>社会实践表</a:t>
            </a:r>
            <a:r>
              <a:rPr lang="zh-CN" b="1">
                <a:sym typeface="+mn-ea"/>
              </a:rPr>
              <a:t>、</a:t>
            </a:r>
            <a:r>
              <a:rPr lang="zh-CN" altLang="en-US" b="1">
                <a:sym typeface="+mn-ea"/>
              </a:rPr>
              <a:t>志愿表中分别有一个外键和用户表的主键相对应，防止出现数据的冗余，满足数据库第三范式的要求。</a:t>
            </a:r>
            <a:endParaRPr lang="zh-CN" alt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b="1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585" y="600075"/>
            <a:ext cx="2875280" cy="542417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2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实体类设计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1323340"/>
            <a:ext cx="5765800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b="1">
                <a:sym typeface="+mn-ea"/>
              </a:rPr>
              <a:t>后端实体类依据数据库表进行设计，实现了</a:t>
            </a:r>
            <a:r>
              <a:rPr lang="en-US" altLang="zh-CN" b="1">
                <a:sym typeface="+mn-ea"/>
              </a:rPr>
              <a:t>7</a:t>
            </a:r>
            <a:r>
              <a:rPr lang="zh-CN" altLang="en-US" b="1">
                <a:sym typeface="+mn-ea"/>
              </a:rPr>
              <a:t>个实体类，额外</a:t>
            </a:r>
            <a:r>
              <a:rPr lang="zh-CN" b="1">
                <a:sym typeface="+mn-ea"/>
              </a:rPr>
              <a:t>增加的一项是</a:t>
            </a:r>
            <a:r>
              <a:rPr lang="en-US" altLang="zh-CN" b="1">
                <a:sym typeface="+mn-ea"/>
              </a:rPr>
              <a:t>Display</a:t>
            </a:r>
            <a:r>
              <a:rPr lang="zh-CN" altLang="en-US" b="1">
                <a:sym typeface="+mn-ea"/>
              </a:rPr>
              <a:t>实体类，用来存储志愿表和用户表连接查询的结果。实体类中定义了每个字段的</a:t>
            </a:r>
            <a:r>
              <a:rPr lang="en-US" altLang="zh-CN" b="1">
                <a:sym typeface="+mn-ea"/>
              </a:rPr>
              <a:t>set</a:t>
            </a:r>
            <a:r>
              <a:rPr lang="zh-CN" altLang="en-US" b="1">
                <a:sym typeface="+mn-ea"/>
              </a:rPr>
              <a:t>和</a:t>
            </a:r>
            <a:r>
              <a:rPr lang="en-US" altLang="zh-CN" b="1">
                <a:sym typeface="+mn-ea"/>
              </a:rPr>
              <a:t>get</a:t>
            </a:r>
            <a:r>
              <a:rPr lang="zh-CN" altLang="en-US" b="1">
                <a:sym typeface="+mn-ea"/>
              </a:rPr>
              <a:t>方法，实体类封装了大量数据，方便前后端数据的传输和处理。</a:t>
            </a:r>
            <a:endParaRPr lang="zh-CN" alt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b="1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3388360"/>
            <a:ext cx="2114550" cy="22809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035" y="447040"/>
            <a:ext cx="4090670" cy="59639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2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系统部署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1323340"/>
            <a:ext cx="10017760" cy="465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b="1">
                <a:sym typeface="+mn-ea"/>
              </a:rPr>
              <a:t>MySql</a:t>
            </a:r>
            <a:r>
              <a:rPr lang="zh-CN" altLang="en-US" b="1">
                <a:sym typeface="+mn-ea"/>
              </a:rPr>
              <a:t>数据库部署在公网服务器47.102.143.23上，通过3306端口访问。</a:t>
            </a:r>
            <a:endParaRPr lang="zh-CN" alt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项目通过</a:t>
            </a:r>
            <a:r>
              <a:rPr lang="en-US" altLang="zh-CN" b="1">
                <a:sym typeface="+mn-ea"/>
              </a:rPr>
              <a:t>maven</a:t>
            </a:r>
            <a:r>
              <a:rPr lang="zh-CN" altLang="en-US" b="1">
                <a:sym typeface="+mn-ea"/>
              </a:rPr>
              <a:t>打包成jar包，部署在公网服务器124.221.179.248上，通过8090端口访问。</a:t>
            </a:r>
            <a:endParaRPr lang="zh-CN" alt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通过以上的部署，可以直接通过</a:t>
            </a:r>
            <a:r>
              <a:rPr lang="en-US" altLang="zh-CN" b="1">
                <a:sym typeface="+mn-ea"/>
              </a:rPr>
              <a:t> </a:t>
            </a:r>
            <a:r>
              <a:rPr lang="zh-CN" altLang="en-US" b="1">
                <a:sym typeface="+mn-ea"/>
              </a:rPr>
              <a:t>http://124.221.179.248:8090</a:t>
            </a:r>
            <a:r>
              <a:rPr lang="en-US" altLang="zh-CN" b="1">
                <a:sym typeface="+mn-ea"/>
              </a:rPr>
              <a:t> </a:t>
            </a:r>
            <a:r>
              <a:rPr lang="zh-CN" altLang="en-US" b="1">
                <a:sym typeface="+mn-ea"/>
              </a:rPr>
              <a:t>访问系统。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" y="2352040"/>
            <a:ext cx="10051415" cy="1019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3533775"/>
            <a:ext cx="7698740" cy="27260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5533390" y="1605280"/>
            <a:ext cx="1125220" cy="112522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cs typeface="+mn-ea"/>
                <a:sym typeface="+mn-lt"/>
              </a:rPr>
              <a:t>3</a:t>
            </a:r>
            <a:endParaRPr lang="en-US" altLang="zh-CN" sz="2800">
              <a:cs typeface="+mn-ea"/>
              <a:sym typeface="+mn-lt"/>
            </a:endParaRPr>
          </a:p>
        </p:txBody>
      </p:sp>
      <p:sp>
        <p:nvSpPr>
          <p:cNvPr id="20" name="标题 7"/>
          <p:cNvSpPr>
            <a:spLocks noGrp="1"/>
          </p:cNvSpPr>
          <p:nvPr/>
        </p:nvSpPr>
        <p:spPr>
          <a:xfrm>
            <a:off x="3609975" y="3197225"/>
            <a:ext cx="4973320" cy="6661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>
                <a:solidFill>
                  <a:srgbClr val="022943"/>
                </a:solidFill>
                <a:latin typeface="+mn-lt"/>
                <a:ea typeface="+mn-ea"/>
                <a:cs typeface="+mn-ea"/>
                <a:sym typeface="+mn-lt"/>
              </a:rPr>
              <a:t>系统演示</a:t>
            </a:r>
            <a:endParaRPr lang="zh-CN" altLang="en-US" sz="4800">
              <a:solidFill>
                <a:srgbClr val="02294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369560" y="4047490"/>
            <a:ext cx="1454785" cy="147320"/>
          </a:xfrm>
          <a:prstGeom prst="roundRect">
            <a:avLst>
              <a:gd name="adj" fmla="val 50000"/>
            </a:avLst>
          </a:prstGeom>
          <a:solidFill>
            <a:srgbClr val="04C3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5533390" y="1605280"/>
            <a:ext cx="1125220" cy="112522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cs typeface="+mn-ea"/>
                <a:sym typeface="+mn-lt"/>
              </a:rPr>
              <a:t>4</a:t>
            </a:r>
            <a:endParaRPr lang="en-US" altLang="zh-CN" sz="2800">
              <a:cs typeface="+mn-ea"/>
              <a:sym typeface="+mn-lt"/>
            </a:endParaRPr>
          </a:p>
        </p:txBody>
      </p:sp>
      <p:sp>
        <p:nvSpPr>
          <p:cNvPr id="20" name="标题 7"/>
          <p:cNvSpPr>
            <a:spLocks noGrp="1"/>
          </p:cNvSpPr>
          <p:nvPr/>
        </p:nvSpPr>
        <p:spPr>
          <a:xfrm>
            <a:off x="3609975" y="3197225"/>
            <a:ext cx="4973320" cy="6661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>
                <a:solidFill>
                  <a:srgbClr val="022943"/>
                </a:solidFill>
                <a:latin typeface="+mn-lt"/>
                <a:ea typeface="+mn-ea"/>
                <a:cs typeface="+mn-ea"/>
                <a:sym typeface="+mn-lt"/>
              </a:rPr>
              <a:t>个人工作介绍</a:t>
            </a:r>
            <a:endParaRPr lang="zh-CN" altLang="en-US" sz="4800">
              <a:solidFill>
                <a:srgbClr val="02294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369560" y="4047490"/>
            <a:ext cx="1454785" cy="147320"/>
          </a:xfrm>
          <a:prstGeom prst="roundRect">
            <a:avLst>
              <a:gd name="adj" fmla="val 50000"/>
            </a:avLst>
          </a:prstGeom>
          <a:solidFill>
            <a:srgbClr val="04C3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4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杨灏哲（组长）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1323340"/>
            <a:ext cx="10017760" cy="4652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配置</a:t>
            </a:r>
            <a:r>
              <a:rPr lang="zh-CN" altLang="en-US" b="1">
                <a:sym typeface="+mn-ea"/>
              </a:rPr>
              <a:t>项目的开发环境</a:t>
            </a:r>
            <a:r>
              <a:rPr lang="en-US" altLang="zh-CN" b="1">
                <a:sym typeface="+mn-ea"/>
              </a:rPr>
              <a:t>，</a:t>
            </a:r>
            <a:r>
              <a:rPr lang="zh-CN" altLang="en-US" b="1">
                <a:sym typeface="+mn-ea"/>
              </a:rPr>
              <a:t>配置</a:t>
            </a:r>
            <a:r>
              <a:rPr lang="en-US" altLang="zh-CN" b="1">
                <a:sym typeface="+mn-ea"/>
              </a:rPr>
              <a:t>springboot</a:t>
            </a:r>
            <a:r>
              <a:rPr lang="zh-CN" altLang="en-US" b="1">
                <a:sym typeface="+mn-ea"/>
              </a:rPr>
              <a:t>、</a:t>
            </a:r>
            <a:r>
              <a:rPr lang="en-US" altLang="zh-CN" b="1">
                <a:sym typeface="+mn-ea"/>
              </a:rPr>
              <a:t>bootstrap</a:t>
            </a:r>
            <a:r>
              <a:rPr lang="zh-CN" altLang="en-US" b="1">
                <a:sym typeface="+mn-ea"/>
              </a:rPr>
              <a:t>等组件的依赖，配置</a:t>
            </a:r>
            <a:r>
              <a:rPr lang="en-US" altLang="zh-CN" b="1">
                <a:sym typeface="+mn-ea"/>
              </a:rPr>
              <a:t>git</a:t>
            </a:r>
            <a:r>
              <a:rPr lang="zh-CN" altLang="en-US" b="1">
                <a:sym typeface="+mn-ea"/>
              </a:rPr>
              <a:t>环境，</a:t>
            </a:r>
            <a:r>
              <a:rPr lang="zh-CN" altLang="en-US" b="1">
                <a:sym typeface="+mn-ea"/>
              </a:rPr>
              <a:t>将组员拉进仓库，实现开发版本的控制。</a:t>
            </a:r>
            <a:endParaRPr lang="zh-CN" altLang="en-US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搭建前端</a:t>
            </a:r>
            <a:r>
              <a:rPr lang="en-US" altLang="zh-CN" b="1">
                <a:sym typeface="+mn-ea"/>
              </a:rPr>
              <a:t>开发框架，</a:t>
            </a:r>
            <a:r>
              <a:rPr lang="zh-CN" altLang="en-US" b="1">
                <a:sym typeface="+mn-ea"/>
              </a:rPr>
              <a:t>使用</a:t>
            </a:r>
            <a:r>
              <a:rPr lang="zh-CN" altLang="en-US" b="1">
                <a:sym typeface="+mn-ea"/>
              </a:rPr>
              <a:t>Gentelella</a:t>
            </a:r>
            <a:r>
              <a:rPr lang="en-US" altLang="zh-CN" b="1">
                <a:sym typeface="+mn-ea"/>
              </a:rPr>
              <a:t> Admin</a:t>
            </a:r>
            <a:r>
              <a:rPr lang="zh-CN" altLang="en-US" b="1">
                <a:sym typeface="+mn-ea"/>
              </a:rPr>
              <a:t>模板，使用thymeleaf实现公共页面的抽取，确定前端页面的总体布局。</a:t>
            </a: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配合组员完成</a:t>
            </a:r>
            <a:r>
              <a:rPr lang="en-US" altLang="zh-CN" b="1">
                <a:sym typeface="+mn-ea"/>
              </a:rPr>
              <a:t>数据库的</a:t>
            </a:r>
            <a:r>
              <a:rPr lang="zh-CN" altLang="en-US" b="1">
                <a:sym typeface="+mn-ea"/>
              </a:rPr>
              <a:t>设计和实现</a:t>
            </a:r>
            <a:r>
              <a:rPr lang="zh-CN" altLang="en-US" b="1">
                <a:sym typeface="+mn-ea"/>
              </a:rPr>
              <a:t>，在云端服务器部署</a:t>
            </a:r>
            <a:r>
              <a:rPr lang="en-US" altLang="zh-CN" b="1">
                <a:sym typeface="+mn-ea"/>
              </a:rPr>
              <a:t>MySql</a:t>
            </a:r>
            <a:r>
              <a:rPr lang="zh-CN" altLang="en-US" b="1">
                <a:sym typeface="+mn-ea"/>
              </a:rPr>
              <a:t>数据库。</a:t>
            </a: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编写</a:t>
            </a:r>
            <a:r>
              <a:rPr lang="en-US" altLang="zh-CN" b="1">
                <a:sym typeface="+mn-ea"/>
              </a:rPr>
              <a:t>志愿模块、复试模块、拟录取模块、管理员模块的代码，</a:t>
            </a:r>
            <a:r>
              <a:rPr lang="zh-CN" altLang="en-US" b="1">
                <a:sym typeface="+mn-ea"/>
              </a:rPr>
              <a:t>配合组员完成测试。</a:t>
            </a:r>
            <a:endParaRPr lang="zh-CN" altLang="en-US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配合组员完成</a:t>
            </a:r>
            <a:r>
              <a:rPr lang="en-US" altLang="zh-CN" b="1">
                <a:sym typeface="+mn-ea"/>
              </a:rPr>
              <a:t>jar</a:t>
            </a:r>
            <a:r>
              <a:rPr lang="zh-CN" altLang="en-US" b="1">
                <a:sym typeface="+mn-ea"/>
              </a:rPr>
              <a:t>包</a:t>
            </a:r>
            <a:r>
              <a:rPr lang="en-US" altLang="zh-CN" b="1">
                <a:sym typeface="+mn-ea"/>
              </a:rPr>
              <a:t>的部署</a:t>
            </a:r>
            <a:r>
              <a:rPr lang="zh-CN" altLang="en-US" b="1">
                <a:sym typeface="+mn-ea"/>
              </a:rPr>
              <a:t>。</a:t>
            </a: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编写</a:t>
            </a:r>
            <a:r>
              <a:rPr lang="en-US" altLang="zh-CN" b="1">
                <a:sym typeface="+mn-ea"/>
              </a:rPr>
              <a:t>项目开发计划书、用户手册、项目开发总结等文档。</a:t>
            </a: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项目的总体规划和管理。</a:t>
            </a:r>
            <a:endParaRPr lang="en-US" altLang="en-US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b="1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1010" y="528955"/>
            <a:ext cx="4081780" cy="5946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志愿表、复试表、拟录取、管理模块的表格主要通过</a:t>
            </a:r>
            <a:r>
              <a:rPr lang="en-US" altLang="zh-CN" b="1">
                <a:sym typeface="+mn-ea"/>
              </a:rPr>
              <a:t>bootstrapTable</a:t>
            </a:r>
            <a:r>
              <a:rPr lang="zh-CN" altLang="en-US" b="1">
                <a:sym typeface="+mn-ea"/>
              </a:rPr>
              <a:t>实现的，</a:t>
            </a:r>
            <a:r>
              <a:rPr lang="en-US" altLang="zh-CN" b="1">
                <a:sym typeface="+mn-ea"/>
              </a:rPr>
              <a:t>bootstrapTable</a:t>
            </a:r>
            <a:r>
              <a:rPr lang="zh-CN" altLang="en-US" b="1">
                <a:sym typeface="+mn-ea"/>
              </a:rPr>
              <a:t>向后端发送的数据是页码（</a:t>
            </a:r>
            <a:r>
              <a:rPr lang="en-US" altLang="zh-CN" b="1">
                <a:sym typeface="+mn-ea"/>
              </a:rPr>
              <a:t>pageNum</a:t>
            </a:r>
            <a:r>
              <a:rPr lang="zh-CN" altLang="en-US" b="1">
                <a:sym typeface="+mn-ea"/>
              </a:rPr>
              <a:t>）和每页的大小（</a:t>
            </a:r>
            <a:r>
              <a:rPr lang="en-US" altLang="zh-CN" b="1">
                <a:sym typeface="+mn-ea"/>
              </a:rPr>
              <a:t>pageSize</a:t>
            </a:r>
            <a:r>
              <a:rPr lang="zh-CN" altLang="en-US" b="1">
                <a:sym typeface="+mn-ea"/>
              </a:rPr>
              <a:t>），后端通过</a:t>
            </a:r>
            <a:r>
              <a:rPr lang="en-US" altLang="zh-CN" b="1">
                <a:sym typeface="+mn-ea"/>
              </a:rPr>
              <a:t>pageNum</a:t>
            </a:r>
            <a:r>
              <a:rPr lang="zh-CN" altLang="en-US" b="1">
                <a:sym typeface="+mn-ea"/>
              </a:rPr>
              <a:t>和</a:t>
            </a:r>
            <a:r>
              <a:rPr lang="en-US" altLang="zh-CN" b="1">
                <a:sym typeface="+mn-ea"/>
              </a:rPr>
              <a:t>pageSize</a:t>
            </a:r>
            <a:r>
              <a:rPr lang="zh-CN" altLang="en-US" b="1">
                <a:sym typeface="+mn-ea"/>
              </a:rPr>
              <a:t>调用</a:t>
            </a:r>
            <a:r>
              <a:rPr lang="en-US" altLang="zh-CN" b="1">
                <a:sym typeface="+mn-ea"/>
              </a:rPr>
              <a:t>userMapper</a:t>
            </a:r>
            <a:r>
              <a:rPr lang="zh-CN" altLang="en-US" b="1">
                <a:sym typeface="+mn-ea"/>
              </a:rPr>
              <a:t>进行分页查询，将数据封装在</a:t>
            </a:r>
            <a:r>
              <a:rPr lang="en-US" altLang="zh-CN" b="1">
                <a:sym typeface="+mn-ea"/>
              </a:rPr>
              <a:t>json</a:t>
            </a:r>
            <a:r>
              <a:rPr lang="zh-CN" altLang="en-US" b="1">
                <a:sym typeface="+mn-ea"/>
              </a:rPr>
              <a:t>中，</a:t>
            </a:r>
            <a:r>
              <a:rPr lang="zh-CN" b="1">
                <a:sym typeface="+mn-ea"/>
              </a:rPr>
              <a:t>返回给前端。</a:t>
            </a:r>
            <a:endParaRPr lang="zh-CN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1080" y="593725"/>
            <a:ext cx="7526020" cy="51923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" y="3256915"/>
            <a:ext cx="4573270" cy="17748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8300" y="463550"/>
            <a:ext cx="5396865" cy="4652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提交志愿、确认</a:t>
            </a:r>
            <a:r>
              <a:rPr lang="en-US" altLang="zh-CN" b="1">
                <a:sym typeface="+mn-ea"/>
              </a:rPr>
              <a:t>/</a:t>
            </a:r>
            <a:r>
              <a:rPr lang="zh-CN" altLang="en-US" b="1">
                <a:sym typeface="+mn-ea"/>
              </a:rPr>
              <a:t>拒绝复试、确认</a:t>
            </a:r>
            <a:r>
              <a:rPr lang="en-US" altLang="zh-CN" b="1">
                <a:sym typeface="+mn-ea"/>
              </a:rPr>
              <a:t>/</a:t>
            </a:r>
            <a:r>
              <a:rPr lang="zh-CN" altLang="en-US" b="1">
                <a:sym typeface="+mn-ea"/>
              </a:rPr>
              <a:t>拒绝拟录取等操作都是通过</a:t>
            </a:r>
            <a:r>
              <a:rPr lang="en-US" altLang="zh-CN" b="1">
                <a:sym typeface="+mn-ea"/>
              </a:rPr>
              <a:t>ajax</a:t>
            </a:r>
            <a:r>
              <a:rPr lang="zh-CN" altLang="en-US" b="1">
                <a:sym typeface="+mn-ea"/>
              </a:rPr>
              <a:t>方法向后端发送数据，对数据库进行更新，通过</a:t>
            </a:r>
            <a:r>
              <a:rPr lang="en-US" altLang="zh-CN" b="1">
                <a:sym typeface="+mn-ea"/>
              </a:rPr>
              <a:t>success</a:t>
            </a:r>
            <a:r>
              <a:rPr lang="zh-CN" altLang="en-US" b="1">
                <a:sym typeface="+mn-ea"/>
              </a:rPr>
              <a:t>的方法来处理从后端接收到的数据。</a:t>
            </a:r>
            <a:endParaRPr lang="zh-CN" altLang="en-US" b="1">
              <a:sym typeface="+mn-ea"/>
            </a:endParaRPr>
          </a:p>
          <a:p>
            <a:endParaRPr lang="zh-CN" altLang="en-US" b="1">
              <a:solidFill>
                <a:schemeClr val="tx1"/>
              </a:solidFill>
              <a:sym typeface="+mn-ea"/>
            </a:endParaRPr>
          </a:p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导出名单的功能是通过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bootstrap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tableExport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方法实现，导出的类型有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excel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json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xml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txt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csv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等，可以自行设置。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  <a:p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0" y="3129280"/>
            <a:ext cx="5591175" cy="1809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180" y="589915"/>
            <a:ext cx="5395595" cy="46526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5053086" y="75584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个人信息模块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7"/>
          <p:cNvSpPr>
            <a:spLocks noGrp="1"/>
          </p:cNvSpPr>
          <p:nvPr/>
        </p:nvSpPr>
        <p:spPr>
          <a:xfrm>
            <a:off x="1362075" y="2067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99" y="1884012"/>
            <a:ext cx="4364738" cy="323602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537" y="2885704"/>
            <a:ext cx="5023263" cy="3431969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784" y="1217221"/>
            <a:ext cx="5283645" cy="1484415"/>
          </a:xfrm>
          <a:prstGeom prst="rect">
            <a:avLst/>
          </a:prstGeom>
        </p:spPr>
      </p:pic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4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35075" y="677863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林晨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5053086" y="75584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个人信息模块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7"/>
          <p:cNvSpPr>
            <a:spLocks noGrp="1"/>
          </p:cNvSpPr>
          <p:nvPr/>
        </p:nvSpPr>
        <p:spPr>
          <a:xfrm>
            <a:off x="1362075" y="2067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74" y="1302694"/>
            <a:ext cx="4976517" cy="49532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59069"/>
            <a:ext cx="5378726" cy="3035456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5053086" y="755844"/>
            <a:ext cx="2085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家庭信息模块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7"/>
          <p:cNvSpPr>
            <a:spLocks noGrp="1"/>
          </p:cNvSpPr>
          <p:nvPr/>
        </p:nvSpPr>
        <p:spPr>
          <a:xfrm>
            <a:off x="1362075" y="2067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47" y="1790131"/>
            <a:ext cx="6155390" cy="209989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227" y="1163781"/>
            <a:ext cx="5061669" cy="245819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992" y="3990107"/>
            <a:ext cx="5148682" cy="210787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11" y="3991439"/>
            <a:ext cx="5043290" cy="21153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5053086" y="75584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项目部署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7"/>
          <p:cNvSpPr>
            <a:spLocks noGrp="1"/>
          </p:cNvSpPr>
          <p:nvPr/>
        </p:nvSpPr>
        <p:spPr>
          <a:xfrm>
            <a:off x="1362075" y="2067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52" y="528913"/>
            <a:ext cx="3936731" cy="354740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87" y="4330728"/>
            <a:ext cx="3984887" cy="186699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840" y="1357993"/>
            <a:ext cx="6909020" cy="159149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458" y="3184546"/>
            <a:ext cx="4534133" cy="76203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000" y="4133874"/>
            <a:ext cx="7175869" cy="69218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890" y="4938919"/>
            <a:ext cx="5937555" cy="768389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4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贾征强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1323340"/>
            <a:ext cx="10017760" cy="4652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0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概要设计说明书：重点是总体结构图、数据库关系表以及E-R图的展现；</a:t>
            </a:r>
            <a:endParaRPr lang="en-US" altLang="zh-CN" b="1">
              <a:sym typeface="+mn-ea"/>
            </a:endParaRPr>
          </a:p>
          <a:p>
            <a:pPr marL="285750" indent="-285750" algn="l" fontAlgn="auto">
              <a:lnSpc>
                <a:spcPct val="100000"/>
              </a:lnSpc>
              <a:buClrTx/>
              <a:buSzTx/>
              <a:buFont typeface="Wingdings" panose="05000000000000000000" charset="0"/>
              <a:buChar char="Ø"/>
            </a:pPr>
            <a:endParaRPr lang="en-US" altLang="zh-CN" b="1"/>
          </a:p>
          <a:p>
            <a:pPr marL="285750" indent="-285750" algn="l" fontAlgn="auto">
              <a:lnSpc>
                <a:spcPct val="10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数据库设计说明书：重点是每个关系表其字段、数据类型以及相应约束的设计与关联；</a:t>
            </a:r>
            <a:endParaRPr lang="en-US" altLang="zh-CN" b="1">
              <a:sym typeface="+mn-ea"/>
            </a:endParaRPr>
          </a:p>
          <a:p>
            <a:pPr marL="285750" indent="-285750" algn="l" fontAlgn="auto">
              <a:lnSpc>
                <a:spcPct val="100000"/>
              </a:lnSpc>
              <a:buClrTx/>
              <a:buSzTx/>
              <a:buFont typeface="Wingdings" panose="05000000000000000000" charset="0"/>
              <a:buChar char="Ø"/>
            </a:pPr>
            <a:endParaRPr lang="en-US" altLang="zh-CN" b="1"/>
          </a:p>
          <a:p>
            <a:pPr marL="285750" indent="-285750" algn="l" fontAlgn="auto">
              <a:lnSpc>
                <a:spcPct val="10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注册与登录界面开发：重点是与后台数据库之间的连接与更新；</a:t>
            </a:r>
            <a:endParaRPr lang="en-US" altLang="zh-CN" b="1">
              <a:sym typeface="+mn-ea"/>
            </a:endParaRPr>
          </a:p>
          <a:p>
            <a:pPr marL="285750" indent="-285750" algn="l" fontAlgn="auto">
              <a:lnSpc>
                <a:spcPct val="100000"/>
              </a:lnSpc>
              <a:buClrTx/>
              <a:buSzTx/>
              <a:buFont typeface="Wingdings" panose="05000000000000000000" charset="0"/>
              <a:buChar char="Ø"/>
            </a:pPr>
            <a:endParaRPr lang="en-US" altLang="zh-CN" b="1"/>
          </a:p>
          <a:p>
            <a:pPr marL="285750" indent="-285750" algn="l" fontAlgn="auto">
              <a:lnSpc>
                <a:spcPct val="10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操作手册：重点讲述系统管理员端是如何进行学生志愿信息的审核、复试、拟录取等操作。</a:t>
            </a:r>
            <a:endParaRPr lang="en-US" altLang="zh-CN" b="1"/>
          </a:p>
          <a:p>
            <a:pPr indent="0">
              <a:buFont typeface="Wingdings" panose="05000000000000000000" charset="0"/>
              <a:buNone/>
            </a:pPr>
            <a:endParaRPr lang="en-US" altLang="en-US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b="1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lum bright="-6000" contrast="-12000"/>
          </a:blip>
          <a:stretch>
            <a:fillRect/>
          </a:stretch>
        </p:blipFill>
        <p:spPr>
          <a:xfrm>
            <a:off x="6336665" y="565785"/>
            <a:ext cx="5180965" cy="58616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lum contrast="12000"/>
          </a:blip>
          <a:stretch>
            <a:fillRect/>
          </a:stretch>
        </p:blipFill>
        <p:spPr>
          <a:xfrm>
            <a:off x="351790" y="2049780"/>
            <a:ext cx="5925820" cy="42837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1155" y="405130"/>
            <a:ext cx="6110605" cy="168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 dirty="0">
                <a:solidFill>
                  <a:srgbClr val="022943"/>
                </a:solidFill>
                <a:cs typeface="+mn-ea"/>
              </a:rPr>
              <a:t>注册与登录（LoginController）</a:t>
            </a:r>
            <a:endParaRPr lang="en-US" altLang="zh-CN" sz="1800" b="1"/>
          </a:p>
          <a:p>
            <a:pPr fontAlgn="auto">
              <a:lnSpc>
                <a:spcPct val="150000"/>
              </a:lnSpc>
            </a:pPr>
            <a:r>
              <a:rPr lang="en-US" altLang="zh-CN" sz="1800" b="1">
                <a:solidFill>
                  <a:schemeClr val="tx1"/>
                </a:solidFill>
              </a:rPr>
              <a:t>Controller层不允许直接操作数据库，用来接受前台数据和返回页面请求信息。</a:t>
            </a:r>
            <a:endParaRPr lang="zh-C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lum contrast="12000"/>
          </a:blip>
          <a:stretch>
            <a:fillRect/>
          </a:stretch>
        </p:blipFill>
        <p:spPr>
          <a:xfrm>
            <a:off x="482600" y="931545"/>
            <a:ext cx="8441690" cy="52762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07975" y="356235"/>
            <a:ext cx="12192000" cy="739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 b="1"/>
              <a:t>UserMapper</a:t>
            </a:r>
            <a:r>
              <a:rPr lang="en-US" altLang="zh-CN" b="1"/>
              <a:t>：</a:t>
            </a:r>
            <a:r>
              <a:rPr lang="en-US" altLang="zh-CN" sz="1800" b="1">
                <a:solidFill>
                  <a:schemeClr val="tx1"/>
                </a:solidFill>
              </a:rPr>
              <a:t>对数据库进行数据持久化操作，直接针对数据库操作的，主要实现一些增删改查操作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lum contrast="-18000"/>
          </a:blip>
          <a:stretch>
            <a:fillRect/>
          </a:stretch>
        </p:blipFill>
        <p:spPr>
          <a:xfrm>
            <a:off x="9058910" y="931545"/>
            <a:ext cx="2247265" cy="49136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4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唐昊晨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1323340"/>
            <a:ext cx="10017760" cy="4652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0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主要完成了系统学生个人信息管理和学生志愿管理模块的详细设计</a:t>
            </a:r>
            <a:endParaRPr lang="en-US" altLang="zh-CN" b="1"/>
          </a:p>
          <a:p>
            <a:pPr marL="285750" indent="-285750" algn="l" fontAlgn="auto">
              <a:lnSpc>
                <a:spcPct val="100000"/>
              </a:lnSpc>
              <a:buClrTx/>
              <a:buSzTx/>
              <a:buFont typeface="Wingdings" panose="05000000000000000000" charset="0"/>
              <a:buChar char="Ø"/>
            </a:pPr>
            <a:endParaRPr lang="en-US" altLang="zh-CN" b="1"/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完成个人信息模块，志愿模块，志愿管理模块的测试工作</a:t>
            </a:r>
            <a:endParaRPr lang="en-US" altLang="zh-CN" b="1"/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endParaRPr lang="en-US" altLang="zh-CN" b="1"/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文档编写：系统详细设计说明书、测试分析报告编写</a:t>
            </a:r>
            <a:endParaRPr lang="en-US" altLang="zh-CN" b="1"/>
          </a:p>
          <a:p>
            <a:endParaRPr lang="zh-CN" altLang="en-US" b="1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7210" y="738505"/>
          <a:ext cx="723599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149"/>
                <a:gridCol w="2275234"/>
                <a:gridCol w="217616"/>
                <a:gridCol w="904500"/>
                <a:gridCol w="904500"/>
                <a:gridCol w="452250"/>
                <a:gridCol w="1356750"/>
              </a:tblGrid>
              <a:tr h="0">
                <a:tc>
                  <a:txBody>
                    <a:bodyPr/>
                    <a:p>
                      <a:r>
                        <a:rPr lang="zh-CN" altLang="en-US" sz="1200" dirty="0"/>
                        <a:t>测试用例序号</a:t>
                      </a:r>
                      <a:endParaRPr lang="zh-CN" altLang="en-US" sz="1200" dirty="0"/>
                    </a:p>
                  </a:txBody>
                  <a:tcPr/>
                </a:tc>
                <a:tc gridSpan="2">
                  <a:txBody>
                    <a:bodyPr/>
                    <a:p>
                      <a:r>
                        <a:rPr lang="en-US" altLang="zh-CN" sz="1200" dirty="0"/>
                        <a:t>09</a:t>
                      </a:r>
                      <a:endParaRPr lang="zh-CN" altLang="en-US" sz="1200" dirty="0"/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p>
                      <a:r>
                        <a:rPr lang="zh-CN" altLang="en-US" sz="1200" dirty="0"/>
                        <a:t>测试用例名称</a:t>
                      </a:r>
                      <a:endParaRPr lang="zh-CN" altLang="en-US" sz="1200" dirty="0"/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p>
                      <a:r>
                        <a:rPr lang="zh-CN" altLang="en-US" sz="1200" dirty="0"/>
                        <a:t>志愿管理（管理员）</a:t>
                      </a:r>
                      <a:endParaRPr lang="zh-CN" altLang="en-US" sz="1200" dirty="0"/>
                    </a:p>
                  </a:txBody>
                  <a:tcPr/>
                </a:tc>
                <a:tc hMerge="1">
                  <a:tcPr/>
                </a:tc>
              </a:tr>
              <a:tr h="442497">
                <a:tc>
                  <a:txBody>
                    <a:bodyPr/>
                    <a:p>
                      <a:pPr algn="ctr"/>
                      <a:r>
                        <a:rPr lang="zh-CN" altLang="en-US" sz="1200" dirty="0"/>
                        <a:t>测试目的</a:t>
                      </a:r>
                      <a:endParaRPr lang="zh-CN" altLang="en-US" sz="1200" dirty="0"/>
                    </a:p>
                  </a:txBody>
                  <a:tcPr anchor="ctr"/>
                </a:tc>
                <a:tc gridSpan="6">
                  <a:txBody>
                    <a:bodyPr/>
                    <a:p>
                      <a:pPr algn="ctr"/>
                      <a:r>
                        <a:rPr lang="zh-CN" altLang="en-US" sz="1200" dirty="0"/>
                        <a:t>通过鼠标点击事件测试对于申报学生的信息修改、查看、审核信息、以及复试和拟录取的管理功能。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65498">
                <a:tc>
                  <a:txBody>
                    <a:bodyPr/>
                    <a:p>
                      <a:pPr algn="ctr"/>
                      <a:r>
                        <a:rPr lang="zh-CN" altLang="en-US" sz="1200" dirty="0"/>
                        <a:t>步骤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200" dirty="0"/>
                        <a:t>操作描述</a:t>
                      </a:r>
                      <a:endParaRPr lang="zh-CN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p>
                      <a:pPr algn="ctr"/>
                      <a:r>
                        <a:rPr lang="zh-CN" altLang="en-US" sz="1200" dirty="0"/>
                        <a:t>输入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cPr anchor="ctr"/>
                </a:tc>
                <a:tc gridSpan="2">
                  <a:txBody>
                    <a:bodyPr/>
                    <a:p>
                      <a:pPr algn="ctr"/>
                      <a:r>
                        <a:rPr lang="zh-CN" altLang="en-US" sz="1200" dirty="0"/>
                        <a:t>期望输出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zh-CN" altLang="en-US" sz="1200" dirty="0"/>
                        <a:t>实际输出</a:t>
                      </a:r>
                      <a:endParaRPr lang="zh-CN" altLang="en-US" sz="1200" dirty="0"/>
                    </a:p>
                  </a:txBody>
                  <a:tcPr anchor="ctr"/>
                </a:tc>
              </a:tr>
              <a:tr h="1061993">
                <a:tc>
                  <a:txBody>
                    <a:bodyPr/>
                    <a:p>
                      <a:pPr algn="ctr"/>
                      <a:r>
                        <a:rPr lang="en-US" altLang="zh-CN" sz="1100" dirty="0"/>
                        <a:t>1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点击导航栏志愿管理界面，</a:t>
                      </a:r>
                      <a:r>
                        <a:rPr lang="en-US" altLang="zh-CN" sz="1100" b="1" dirty="0"/>
                        <a:t>2.</a:t>
                      </a:r>
                      <a:r>
                        <a:rPr lang="zh-CN" altLang="en-US" sz="1100" dirty="0"/>
                        <a:t>选择学生项目后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查看学生信息</a:t>
                      </a:r>
                      <a:r>
                        <a:rPr lang="en-US" altLang="zh-CN" sz="1100" dirty="0"/>
                        <a:t>”</a:t>
                      </a:r>
                      <a:endParaRPr lang="zh-CN" altLang="en-US" sz="1100" dirty="0"/>
                    </a:p>
                  </a:txBody>
                  <a:tcPr anchor="ctr"/>
                </a:tc>
                <a:tc gridSpan="2">
                  <a:txBody>
                    <a:bodyPr/>
                    <a:p>
                      <a:pPr algn="ctr"/>
                      <a:r>
                        <a:rPr lang="zh-CN" altLang="en-US" sz="1100" dirty="0"/>
                        <a:t>无</a:t>
                      </a:r>
                      <a:endParaRPr lang="zh-CN" altLang="en-US" sz="1100" dirty="0"/>
                    </a:p>
                  </a:txBody>
                  <a:tcPr anchor="ctr"/>
                </a:tc>
                <a:tc hMerge="1">
                  <a:tcPr anchor="ctr"/>
                </a:tc>
                <a:tc gridSpan="2">
                  <a:txBody>
                    <a:bodyPr/>
                    <a:p>
                      <a:pPr marL="0" indent="0" algn="just">
                        <a:buFontTx/>
                        <a:buNone/>
                      </a:pPr>
                      <a:r>
                        <a:rPr lang="zh-CN" altLang="en-US" sz="1100" dirty="0"/>
                        <a:t>系统显示上浮窗口并显示学生个人基本信息、家庭成员、竞赛获奖、科研经理、社会实践详细情况</a:t>
                      </a:r>
                      <a:endParaRPr lang="zh-CN" altLang="en-US" sz="1100" dirty="0"/>
                    </a:p>
                  </a:txBody>
                  <a:tcPr anchor="ctr"/>
                </a:tc>
                <a:tc hMerge="1">
                  <a:tcPr/>
                </a:tc>
                <a:tc>
                  <a:txBody>
                    <a:bodyPr/>
                    <a:p>
                      <a:pPr algn="just"/>
                      <a:r>
                        <a:rPr lang="zh-CN" altLang="en-US" sz="1100" dirty="0"/>
                        <a:t>系统显示上浮窗口并显示学生个人基本信息、家庭成员、竞赛获奖、科研经理、社会实践详细情况</a:t>
                      </a:r>
                      <a:endParaRPr lang="zh-CN" altLang="en-US" sz="1100" dirty="0"/>
                    </a:p>
                  </a:txBody>
                  <a:tcPr anchor="ctr"/>
                </a:tc>
              </a:tr>
              <a:tr h="737495">
                <a:tc>
                  <a:txBody>
                    <a:bodyPr/>
                    <a:p>
                      <a:pPr algn="ctr"/>
                      <a:r>
                        <a:rPr lang="en-US" altLang="zh-CN" sz="1100" dirty="0"/>
                        <a:t>2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选择需要调整信息学生，点击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修改志愿信息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</a:t>
                      </a:r>
                      <a:r>
                        <a:rPr lang="en-US" altLang="zh-CN" sz="1100" b="1" dirty="0"/>
                        <a:t>2.</a:t>
                      </a:r>
                      <a:r>
                        <a:rPr lang="zh-CN" altLang="en-US" sz="1100" dirty="0"/>
                        <a:t>申请专业下拉框选择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软件工程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，点击修改，</a:t>
                      </a:r>
                      <a:r>
                        <a:rPr lang="en-US" altLang="zh-CN" sz="1100" b="1" dirty="0"/>
                        <a:t>3.</a:t>
                      </a:r>
                      <a:r>
                        <a:rPr lang="zh-CN" altLang="en-US" sz="1100" dirty="0"/>
                        <a:t>刷新页面</a:t>
                      </a:r>
                      <a:endParaRPr lang="zh-CN" altLang="en-US" sz="1100" dirty="0"/>
                    </a:p>
                  </a:txBody>
                  <a:tcPr anchor="ctr"/>
                </a:tc>
                <a:tc gridSpan="2">
                  <a:txBody>
                    <a:bodyPr/>
                    <a:p>
                      <a:pPr algn="ctr"/>
                      <a:r>
                        <a:rPr lang="zh-CN" altLang="en-US" sz="1100" dirty="0"/>
                        <a:t>无</a:t>
                      </a:r>
                      <a:endParaRPr lang="zh-CN" altLang="en-US" sz="1100" dirty="0"/>
                    </a:p>
                  </a:txBody>
                  <a:tcPr anchor="ctr"/>
                </a:tc>
                <a:tc hMerge="1">
                  <a:tcPr/>
                </a:tc>
                <a:tc gridSpan="2">
                  <a:txBody>
                    <a:bodyPr/>
                    <a:p>
                      <a:pPr marL="0" indent="0" algn="just">
                        <a:buFontTx/>
                        <a:buNone/>
                      </a:pPr>
                      <a:r>
                        <a:rPr lang="zh-CN" altLang="en-US" sz="1100" dirty="0"/>
                        <a:t>系统显示上浮表单，</a:t>
                      </a:r>
                      <a:endParaRPr lang="en-US" altLang="zh-CN" sz="1100" dirty="0"/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zh-CN" altLang="en-US" sz="1100" dirty="0"/>
                        <a:t>系统提醒修改信息成功，学生专业信息更新为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软件工程</a:t>
                      </a:r>
                      <a:r>
                        <a:rPr lang="en-US" altLang="zh-CN" sz="1100" dirty="0"/>
                        <a:t>”</a:t>
                      </a:r>
                      <a:endParaRPr lang="zh-CN" altLang="en-US" sz="1100" dirty="0"/>
                    </a:p>
                  </a:txBody>
                  <a:tcPr anchor="ctr"/>
                </a:tc>
                <a:tc hMerge="1">
                  <a:tcPr/>
                </a:tc>
                <a:tc>
                  <a:txBody>
                    <a:bodyPr/>
                    <a:p>
                      <a:pPr marL="0" indent="0" algn="just">
                        <a:buFontTx/>
                        <a:buNone/>
                      </a:pPr>
                      <a:r>
                        <a:rPr lang="zh-CN" altLang="en-US" sz="1100" dirty="0"/>
                        <a:t>系统显示上浮表单，</a:t>
                      </a:r>
                      <a:endParaRPr lang="en-US" altLang="zh-CN" sz="1100" dirty="0"/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zh-CN" altLang="en-US" sz="1100" dirty="0"/>
                        <a:t>系统提醒修改信息成功，学生专业信息更新为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软件工程</a:t>
                      </a:r>
                      <a:r>
                        <a:rPr lang="en-US" altLang="zh-CN" sz="1100" dirty="0"/>
                        <a:t>”</a:t>
                      </a:r>
                      <a:endParaRPr lang="zh-CN" altLang="en-US" sz="1100" dirty="0"/>
                    </a:p>
                  </a:txBody>
                  <a:tcPr anchor="ctr"/>
                </a:tc>
              </a:tr>
              <a:tr h="737495">
                <a:tc>
                  <a:txBody>
                    <a:bodyPr/>
                    <a:p>
                      <a:pPr algn="ctr"/>
                      <a:r>
                        <a:rPr lang="en-US" altLang="zh-CN" sz="1100" dirty="0"/>
                        <a:t>3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选择不符合要求学生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小李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，点击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审核不通过，</a:t>
                      </a:r>
                      <a:r>
                        <a:rPr lang="en-US" altLang="zh-CN" sz="1100" b="1" dirty="0"/>
                        <a:t>2.</a:t>
                      </a:r>
                      <a:r>
                        <a:rPr lang="zh-CN" altLang="en-US" sz="1100" dirty="0"/>
                        <a:t>点击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确认</a:t>
                      </a:r>
                      <a:r>
                        <a:rPr lang="en-US" altLang="zh-CN" sz="1100" dirty="0"/>
                        <a:t>”</a:t>
                      </a:r>
                      <a:endParaRPr lang="zh-CN" altLang="en-US" sz="1100" dirty="0"/>
                    </a:p>
                  </a:txBody>
                  <a:tcPr anchor="ctr"/>
                </a:tc>
                <a:tc gridSpan="2">
                  <a:txBody>
                    <a:bodyPr/>
                    <a:p>
                      <a:pPr algn="ctr"/>
                      <a:r>
                        <a:rPr lang="zh-CN" altLang="en-US" sz="1100" dirty="0"/>
                        <a:t>无</a:t>
                      </a:r>
                      <a:endParaRPr lang="zh-CN" altLang="en-US" sz="1100" dirty="0"/>
                    </a:p>
                  </a:txBody>
                  <a:tcPr anchor="ctr"/>
                </a:tc>
                <a:tc hMerge="1">
                  <a:tcPr/>
                </a:tc>
                <a:tc gridSpan="2">
                  <a:txBody>
                    <a:bodyPr/>
                    <a:p>
                      <a:pPr marL="0" indent="0" algn="just">
                        <a:buFontTx/>
                        <a:buNone/>
                      </a:pPr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系统提示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请确认审核不通过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</a:t>
                      </a:r>
                      <a:r>
                        <a:rPr lang="en-US" altLang="zh-CN" sz="1100" b="1" dirty="0"/>
                        <a:t>2.</a:t>
                      </a:r>
                      <a:r>
                        <a:rPr lang="zh-CN" altLang="en-US" sz="1100" dirty="0"/>
                        <a:t>学生志愿审核状态栏更新为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审核不通过</a:t>
                      </a:r>
                      <a:r>
                        <a:rPr lang="en-US" altLang="zh-CN" sz="1100" dirty="0"/>
                        <a:t>”</a:t>
                      </a:r>
                      <a:endParaRPr lang="en-US" altLang="zh-CN" sz="1100" dirty="0"/>
                    </a:p>
                  </a:txBody>
                  <a:tcPr anchor="ctr"/>
                </a:tc>
                <a:tc hMerge="1">
                  <a:tcPr/>
                </a:tc>
                <a:tc>
                  <a:txBody>
                    <a:bodyPr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系统提示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请确认审核不通过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</a:t>
                      </a:r>
                      <a:r>
                        <a:rPr lang="en-US" altLang="zh-CN" sz="1100" b="1" dirty="0"/>
                        <a:t>2.</a:t>
                      </a:r>
                      <a:r>
                        <a:rPr lang="zh-CN" altLang="en-US" sz="1100" dirty="0"/>
                        <a:t>学生志愿审核状态栏更新为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审核不通过</a:t>
                      </a:r>
                      <a:r>
                        <a:rPr lang="en-US" altLang="zh-CN" sz="1100" dirty="0"/>
                        <a:t>”</a:t>
                      </a:r>
                      <a:endParaRPr lang="en-US" altLang="zh-CN" sz="1100" dirty="0"/>
                    </a:p>
                  </a:txBody>
                  <a:tcPr anchor="ctr"/>
                </a:tc>
              </a:tr>
              <a:tr h="1061993">
                <a:tc>
                  <a:txBody>
                    <a:bodyPr/>
                    <a:p>
                      <a:pPr algn="ctr"/>
                      <a:r>
                        <a:rPr lang="en-US" altLang="zh-CN" sz="1100" dirty="0"/>
                        <a:t>4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选择符合要求学生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小红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，点击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审核通过，发送复试通知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</a:t>
                      </a:r>
                      <a:r>
                        <a:rPr lang="en-US" altLang="zh-CN" sz="1100" b="1" dirty="0"/>
                        <a:t>2</a:t>
                      </a:r>
                      <a:r>
                        <a:rPr lang="en-US" altLang="zh-CN" sz="1100" dirty="0"/>
                        <a:t>.</a:t>
                      </a:r>
                      <a:r>
                        <a:rPr lang="zh-CN" altLang="en-US" sz="1100" dirty="0"/>
                        <a:t>点击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确认</a:t>
                      </a:r>
                      <a:r>
                        <a:rPr lang="en-US" altLang="zh-CN" sz="1100" dirty="0"/>
                        <a:t>”</a:t>
                      </a:r>
                      <a:endParaRPr lang="en-US" altLang="zh-CN" sz="1100" dirty="0"/>
                    </a:p>
                  </a:txBody>
                  <a:tcPr anchor="ctr"/>
                </a:tc>
                <a:tc gridSpan="2">
                  <a:txBody>
                    <a:bodyPr/>
                    <a:p>
                      <a:pPr algn="ctr"/>
                      <a:r>
                        <a:rPr lang="zh-CN" altLang="en-US" sz="1100" dirty="0"/>
                        <a:t>无</a:t>
                      </a:r>
                      <a:endParaRPr lang="zh-CN" altLang="en-US" sz="1100" dirty="0"/>
                    </a:p>
                  </a:txBody>
                  <a:tcPr anchor="ctr"/>
                </a:tc>
                <a:tc hMerge="1">
                  <a:tcPr/>
                </a:tc>
                <a:tc gridSpan="2">
                  <a:txBody>
                    <a:bodyPr/>
                    <a:p>
                      <a:pPr marL="0" indent="0" algn="just">
                        <a:buFontTx/>
                        <a:buNone/>
                      </a:pPr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系统窗口提示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请确认审核通过，并发送复试通知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</a:t>
                      </a:r>
                      <a:r>
                        <a:rPr lang="en-US" altLang="zh-CN" sz="1100" b="1" dirty="0"/>
                        <a:t>2</a:t>
                      </a:r>
                      <a:r>
                        <a:rPr lang="en-US" altLang="zh-CN" sz="1100" dirty="0"/>
                        <a:t>.</a:t>
                      </a:r>
                      <a:r>
                        <a:rPr lang="zh-CN" altLang="en-US" sz="1100" dirty="0"/>
                        <a:t>学生志愿审核状态更新为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审核通过，已发送复试通知</a:t>
                      </a:r>
                      <a:r>
                        <a:rPr lang="en-US" altLang="zh-CN" sz="1100" dirty="0"/>
                        <a:t>”</a:t>
                      </a:r>
                      <a:endParaRPr lang="en-US" altLang="zh-CN" sz="1100" dirty="0"/>
                    </a:p>
                  </a:txBody>
                  <a:tcPr anchor="ctr"/>
                </a:tc>
                <a:tc hMerge="1">
                  <a:tcPr/>
                </a:tc>
                <a:tc>
                  <a:txBody>
                    <a:bodyPr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系统窗口提示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请确认审核通过，并发送复试通知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</a:t>
                      </a:r>
                      <a:r>
                        <a:rPr lang="en-US" altLang="zh-CN" sz="1100" b="1" dirty="0"/>
                        <a:t>2</a:t>
                      </a:r>
                      <a:r>
                        <a:rPr lang="en-US" altLang="zh-CN" sz="1100" dirty="0"/>
                        <a:t>.</a:t>
                      </a:r>
                      <a:r>
                        <a:rPr lang="zh-CN" altLang="en-US" sz="1100" dirty="0"/>
                        <a:t>学生志愿审核状态更新为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审核通过，已发送复试通知</a:t>
                      </a:r>
                      <a:r>
                        <a:rPr lang="en-US" altLang="zh-CN" sz="1100" dirty="0"/>
                        <a:t>”</a:t>
                      </a:r>
                      <a:endParaRPr lang="en-US" altLang="zh-CN" sz="1100" dirty="0"/>
                    </a:p>
                  </a:txBody>
                  <a:tcPr anchor="ctr"/>
                </a:tc>
              </a:tr>
              <a:tr h="737495">
                <a:tc>
                  <a:txBody>
                    <a:bodyPr/>
                    <a:p>
                      <a:pPr algn="ctr"/>
                      <a:r>
                        <a:rPr lang="en-US" altLang="zh-CN" sz="1100" dirty="0"/>
                        <a:t>5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选择审核状态为不通过的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小李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点击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点击审核通过，发送复试通知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</a:t>
                      </a:r>
                      <a:r>
                        <a:rPr lang="en-US" altLang="zh-CN" sz="1100" b="1" dirty="0"/>
                        <a:t>2.</a:t>
                      </a:r>
                      <a:r>
                        <a:rPr lang="zh-CN" altLang="en-US" sz="1100" dirty="0"/>
                        <a:t>点击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确认</a:t>
                      </a:r>
                      <a:r>
                        <a:rPr lang="en-US" altLang="zh-CN" sz="1100" dirty="0"/>
                        <a:t>”</a:t>
                      </a:r>
                      <a:endParaRPr lang="en-US" altLang="zh-CN" sz="1100" dirty="0"/>
                    </a:p>
                    <a:p>
                      <a:pPr algn="ctr"/>
                      <a:endParaRPr lang="en-US" altLang="zh-CN" sz="1100" dirty="0"/>
                    </a:p>
                  </a:txBody>
                  <a:tcPr anchor="ctr"/>
                </a:tc>
                <a:tc gridSpan="2">
                  <a:txBody>
                    <a:bodyPr/>
                    <a:p>
                      <a:pPr algn="ctr"/>
                      <a:r>
                        <a:rPr lang="zh-CN" altLang="en-US" sz="1100" dirty="0"/>
                        <a:t>无</a:t>
                      </a:r>
                      <a:endParaRPr lang="zh-CN" altLang="en-US" sz="1100" dirty="0"/>
                    </a:p>
                  </a:txBody>
                  <a:tcPr anchor="ctr"/>
                </a:tc>
                <a:tc hMerge="1">
                  <a:tcPr/>
                </a:tc>
                <a:tc gridSpan="2">
                  <a:txBody>
                    <a:bodyPr/>
                    <a:p>
                      <a:pPr marL="0" indent="0" algn="just">
                        <a:buFontTx/>
                        <a:buNone/>
                      </a:pPr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系统窗口提示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请确认审核通过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</a:t>
                      </a:r>
                      <a:r>
                        <a:rPr lang="en-US" altLang="zh-CN" sz="1100" b="1" dirty="0"/>
                        <a:t>2</a:t>
                      </a:r>
                      <a:r>
                        <a:rPr lang="en-US" altLang="zh-CN" sz="1100" dirty="0"/>
                        <a:t>.</a:t>
                      </a:r>
                      <a:r>
                        <a:rPr lang="zh-CN" altLang="en-US" sz="1100" dirty="0"/>
                        <a:t>系统提示</a:t>
                      </a:r>
                      <a:r>
                        <a:rPr lang="en-US" altLang="zh-CN" sz="1100" u="sng" dirty="0"/>
                        <a:t>“</a:t>
                      </a:r>
                      <a:r>
                        <a:rPr lang="zh-CN" altLang="en-US" sz="1100" u="sng" dirty="0"/>
                        <a:t>操作失败，已进行过审核</a:t>
                      </a:r>
                      <a:r>
                        <a:rPr lang="en-US" altLang="zh-CN" sz="1100" u="sng" dirty="0"/>
                        <a:t>”</a:t>
                      </a:r>
                      <a:endParaRPr lang="en-US" altLang="zh-CN" sz="1100" u="sng" dirty="0"/>
                    </a:p>
                  </a:txBody>
                  <a:tcPr anchor="ctr"/>
                </a:tc>
                <a:tc hMerge="1">
                  <a:tcPr/>
                </a:tc>
                <a:tc>
                  <a:txBody>
                    <a:bodyPr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dirty="0"/>
                        <a:t>1.</a:t>
                      </a:r>
                      <a:r>
                        <a:rPr lang="zh-CN" altLang="en-US" sz="1100" dirty="0"/>
                        <a:t>系统窗口提示</a:t>
                      </a:r>
                      <a:r>
                        <a:rPr lang="en-US" altLang="zh-CN" sz="1100" dirty="0"/>
                        <a:t>“</a:t>
                      </a:r>
                      <a:r>
                        <a:rPr lang="zh-CN" altLang="en-US" sz="1100" dirty="0"/>
                        <a:t>请确认审核通过</a:t>
                      </a:r>
                      <a:r>
                        <a:rPr lang="en-US" altLang="zh-CN" sz="1100" dirty="0"/>
                        <a:t>”</a:t>
                      </a:r>
                      <a:r>
                        <a:rPr lang="zh-CN" altLang="en-US" sz="1100" dirty="0"/>
                        <a:t>，</a:t>
                      </a:r>
                      <a:r>
                        <a:rPr lang="en-US" altLang="zh-CN" sz="1100" b="1" dirty="0"/>
                        <a:t>2</a:t>
                      </a:r>
                      <a:r>
                        <a:rPr lang="en-US" altLang="zh-CN" sz="1100" dirty="0"/>
                        <a:t>.</a:t>
                      </a:r>
                      <a:r>
                        <a:rPr lang="zh-CN" altLang="en-US" sz="1100" dirty="0"/>
                        <a:t>系统提示</a:t>
                      </a:r>
                      <a:r>
                        <a:rPr lang="en-US" altLang="zh-CN" sz="1100" u="sng" dirty="0"/>
                        <a:t>“</a:t>
                      </a:r>
                      <a:r>
                        <a:rPr lang="zh-CN" altLang="en-US" sz="1100" u="sng" dirty="0"/>
                        <a:t>操作失败，已进行过审核</a:t>
                      </a:r>
                      <a:r>
                        <a:rPr lang="en-US" altLang="zh-CN" sz="1100" u="sng" dirty="0"/>
                        <a:t>”</a:t>
                      </a:r>
                      <a:endParaRPr lang="en-US" altLang="zh-CN" sz="1100" u="sng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16425" y="343871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rgbClr val="022943"/>
                </a:solidFill>
                <a:cs typeface="+mn-ea"/>
              </a:rPr>
              <a:t>志愿管理模块功能测试</a:t>
            </a:r>
            <a:endParaRPr lang="zh-CN" altLang="en-US" b="1" dirty="0"/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181" y="1683411"/>
            <a:ext cx="3811684" cy="896866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" t="5675" r="2208" b="-429"/>
          <a:stretch>
            <a:fillRect/>
          </a:stretch>
        </p:blipFill>
        <p:spPr>
          <a:xfrm>
            <a:off x="6599393" y="1567053"/>
            <a:ext cx="3811684" cy="1049044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2126897" y="1967584"/>
            <a:ext cx="482210" cy="2479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661032" y="1911748"/>
            <a:ext cx="573963" cy="2247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70316" y="26054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dirty="0"/>
              <a:t>测试分析总结</a:t>
            </a:r>
            <a:endParaRPr lang="zh-CN" altLang="en-US" sz="24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l="377"/>
          <a:stretch>
            <a:fillRect/>
          </a:stretch>
        </p:blipFill>
        <p:spPr>
          <a:xfrm>
            <a:off x="6599393" y="5189525"/>
            <a:ext cx="3811684" cy="10490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/>
          <a:srcRect l="261" t="1371" r="-1"/>
          <a:stretch>
            <a:fillRect/>
          </a:stretch>
        </p:blipFill>
        <p:spPr>
          <a:xfrm>
            <a:off x="2030180" y="5179873"/>
            <a:ext cx="3811684" cy="103858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07709" y="1050312"/>
            <a:ext cx="2488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页面设计测试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437520" y="447416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安全测试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437520" y="2738479"/>
            <a:ext cx="169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接口测试</a:t>
            </a:r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627" y="3059817"/>
            <a:ext cx="1549645" cy="146234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129" y="3055143"/>
            <a:ext cx="2583471" cy="1462342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9042" y="3579213"/>
            <a:ext cx="657317" cy="371527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490" y="4140507"/>
            <a:ext cx="1571844" cy="295316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6727" y="3097009"/>
            <a:ext cx="790685" cy="32389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9739" y="3572997"/>
            <a:ext cx="820620" cy="383960"/>
          </a:xfrm>
          <a:prstGeom prst="rect">
            <a:avLst/>
          </a:prstGeom>
        </p:spPr>
      </p:pic>
      <p:cxnSp>
        <p:nvCxnSpPr>
          <p:cNvPr id="46" name="直接箭头连接符 45"/>
          <p:cNvCxnSpPr>
            <a:stCxn id="32" idx="3"/>
            <a:endCxn id="36" idx="1"/>
          </p:cNvCxnSpPr>
          <p:nvPr/>
        </p:nvCxnSpPr>
        <p:spPr>
          <a:xfrm flipV="1">
            <a:off x="8116359" y="3258957"/>
            <a:ext cx="340368" cy="50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32" idx="3"/>
            <a:endCxn id="34" idx="1"/>
          </p:cNvCxnSpPr>
          <p:nvPr/>
        </p:nvCxnSpPr>
        <p:spPr>
          <a:xfrm>
            <a:off x="8116359" y="3764977"/>
            <a:ext cx="345131" cy="523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片 5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81899" y="3116833"/>
            <a:ext cx="866896" cy="285790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81899" y="4146399"/>
            <a:ext cx="838317" cy="323895"/>
          </a:xfrm>
          <a:prstGeom prst="rect">
            <a:avLst/>
          </a:prstGeom>
        </p:spPr>
      </p:pic>
      <p:cxnSp>
        <p:nvCxnSpPr>
          <p:cNvPr id="56" name="直接箭头连接符 55"/>
          <p:cNvCxnSpPr>
            <a:stCxn id="40" idx="3"/>
            <a:endCxn id="52" idx="1"/>
          </p:cNvCxnSpPr>
          <p:nvPr/>
        </p:nvCxnSpPr>
        <p:spPr>
          <a:xfrm flipV="1">
            <a:off x="10740359" y="3259728"/>
            <a:ext cx="241540" cy="505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0" idx="3"/>
            <a:endCxn id="54" idx="1"/>
          </p:cNvCxnSpPr>
          <p:nvPr/>
        </p:nvCxnSpPr>
        <p:spPr>
          <a:xfrm>
            <a:off x="10740359" y="3764977"/>
            <a:ext cx="241540" cy="543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7" grpId="0"/>
      <p:bldP spid="19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菱形 1"/>
          <p:cNvSpPr/>
          <p:nvPr/>
        </p:nvSpPr>
        <p:spPr>
          <a:xfrm>
            <a:off x="499745" y="600075"/>
            <a:ext cx="615950" cy="615950"/>
          </a:xfrm>
          <a:prstGeom prst="diamond">
            <a:avLst/>
          </a:prstGeom>
          <a:solidFill>
            <a:srgbClr val="022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cs typeface="+mn-ea"/>
                <a:sym typeface="+mn-lt"/>
              </a:rPr>
              <a:t>4</a:t>
            </a:r>
            <a:endParaRPr lang="en-US" altLang="zh-CN" sz="240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35075" y="677863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22943"/>
                </a:solidFill>
                <a:cs typeface="+mn-ea"/>
                <a:sym typeface="+mn-lt"/>
              </a:rPr>
              <a:t>徐达</a:t>
            </a:r>
            <a:endParaRPr lang="zh-CN" altLang="en-US" sz="2400" b="1" dirty="0"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8" name="标题 7"/>
          <p:cNvSpPr>
            <a:spLocks noGrp="1"/>
          </p:cNvSpPr>
          <p:nvPr/>
        </p:nvSpPr>
        <p:spPr>
          <a:xfrm>
            <a:off x="1235075" y="1940560"/>
            <a:ext cx="4529455" cy="971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ct val="130000"/>
              </a:lnSpc>
            </a:pPr>
            <a:r>
              <a:rPr lang="zh-CN" altLang="en-US" sz="2000" b="1" cap="all" dirty="0">
                <a:solidFill>
                  <a:schemeClr val="bg1"/>
                </a:solidFill>
                <a:uFillTx/>
                <a:latin typeface="+mn-lt"/>
                <a:ea typeface="+mn-ea"/>
                <a:cs typeface="+mn-ea"/>
                <a:sym typeface="+mn-lt"/>
              </a:rPr>
              <a:t>Founder of Campus number of Daohusu</a:t>
            </a:r>
            <a:endParaRPr lang="zh-CN" altLang="en-US" sz="2000" b="1" cap="all" dirty="0">
              <a:solidFill>
                <a:schemeClr val="bg1"/>
              </a:solidFill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1323340"/>
            <a:ext cx="10017760" cy="4652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编写软件需求说明书：说明研究生推免申报系统的开发背景，说明项目的目标和用户特点，规定软件开发的经费限制、开发期限等假定和约束，说明软件的对功能和性能上的规定，说明软件对输人输出要求、数据管理能力要求、故障处理要求、其他专门要求。</a:t>
            </a:r>
            <a:endParaRPr lang="zh-CN" altLang="en-US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编写编码规范：用于指导开发组进行开发;便于组内成员之间沟通交流;有助于项目质量和稳定;为后期维护提供支持</a:t>
            </a:r>
            <a:endParaRPr lang="zh-CN" altLang="en-US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进行研究生推免申报系统注册登录模块的测试：使用多个样例测试系统的注册功能和登录功能，确保系统在登陆注册模块的正常运行。</a:t>
            </a:r>
            <a:endParaRPr lang="zh-CN" altLang="en-US" b="1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明月 9"/>
          <p:cNvSpPr txBox="1"/>
          <p:nvPr/>
        </p:nvSpPr>
        <p:spPr>
          <a:xfrm>
            <a:off x="2396490" y="1826895"/>
            <a:ext cx="7399020" cy="163004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3E7D9C">
                    <a:alpha val="25000"/>
                  </a:srgb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ln w="0" cmpd="sng">
                  <a:noFill/>
                  <a:prstDash val="solid"/>
                </a:ln>
                <a:solidFill>
                  <a:srgbClr val="022943"/>
                </a:solidFill>
                <a:cs typeface="+mn-ea"/>
                <a:sym typeface="+mn-lt"/>
              </a:rPr>
              <a:t>演示结束</a:t>
            </a:r>
            <a:r>
              <a:rPr lang="en-US" altLang="zh-CN" sz="6000" b="1" dirty="0">
                <a:ln w="0" cmpd="sng">
                  <a:noFill/>
                  <a:prstDash val="solid"/>
                </a:ln>
                <a:solidFill>
                  <a:srgbClr val="022943"/>
                </a:solidFill>
                <a:cs typeface="+mn-ea"/>
                <a:sym typeface="+mn-lt"/>
              </a:rPr>
              <a:t> </a:t>
            </a:r>
            <a:r>
              <a:rPr lang="zh-CN" altLang="en-US" sz="6000" b="1" dirty="0">
                <a:ln w="0" cmpd="sng">
                  <a:noFill/>
                  <a:prstDash val="solid"/>
                </a:ln>
                <a:solidFill>
                  <a:srgbClr val="022943"/>
                </a:solidFill>
                <a:cs typeface="+mn-ea"/>
                <a:sym typeface="+mn-lt"/>
              </a:rPr>
              <a:t>谢谢观看</a:t>
            </a:r>
            <a:endParaRPr lang="zh-CN" altLang="en-US" sz="6000" b="1" dirty="0">
              <a:ln w="0" cmpd="sng">
                <a:noFill/>
                <a:prstDash val="solid"/>
              </a:ln>
              <a:solidFill>
                <a:srgbClr val="022943"/>
              </a:solidFill>
              <a:cs typeface="+mn-ea"/>
              <a:sym typeface="+mn-lt"/>
            </a:endParaRPr>
          </a:p>
          <a:p>
            <a:pPr algn="ctr"/>
            <a:r>
              <a:rPr lang="zh-CN" sz="4000" b="1" dirty="0">
                <a:ln w="0" cmpd="sng">
                  <a:noFill/>
                  <a:prstDash val="solid"/>
                </a:ln>
                <a:solidFill>
                  <a:srgbClr val="022943"/>
                </a:solidFill>
                <a:cs typeface="+mn-ea"/>
                <a:sym typeface="+mn-lt"/>
              </a:rPr>
              <a:t>研究生推免申报</a:t>
            </a:r>
            <a:r>
              <a:rPr sz="4000" b="1" dirty="0">
                <a:ln w="0" cmpd="sng">
                  <a:noFill/>
                  <a:prstDash val="solid"/>
                </a:ln>
                <a:solidFill>
                  <a:srgbClr val="022943"/>
                </a:solidFill>
                <a:cs typeface="+mn-ea"/>
                <a:sym typeface="+mn-lt"/>
              </a:rPr>
              <a:t>系统</a:t>
            </a:r>
            <a:endParaRPr sz="4000" b="1" dirty="0">
              <a:ln w="0" cmpd="sng">
                <a:noFill/>
                <a:prstDash val="solid"/>
              </a:ln>
              <a:solidFill>
                <a:srgbClr val="022943"/>
              </a:solidFill>
              <a:cs typeface="+mn-ea"/>
              <a:sym typeface="+mn-lt"/>
            </a:endParaRPr>
          </a:p>
        </p:txBody>
      </p:sp>
      <p:sp>
        <p:nvSpPr>
          <p:cNvPr id="2" name="明月 9"/>
          <p:cNvSpPr txBox="1"/>
          <p:nvPr/>
        </p:nvSpPr>
        <p:spPr>
          <a:xfrm>
            <a:off x="3870960" y="5293995"/>
            <a:ext cx="387350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D8D8E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l" fontAlgn="auto">
              <a:lnSpc>
                <a:spcPts val="2500"/>
              </a:lnSpc>
            </a:pPr>
            <a:r>
              <a:rPr lang="zh-CN" altLang="en-US" b="1" dirty="0" smtClean="0">
                <a:ln w="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组员：林晨、贾征强、唐昊晨、徐达</a:t>
            </a:r>
            <a:endParaRPr lang="zh-CN" altLang="en-US" dirty="0">
              <a:ln w="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明月 9"/>
          <p:cNvSpPr txBox="1"/>
          <p:nvPr/>
        </p:nvSpPr>
        <p:spPr>
          <a:xfrm>
            <a:off x="3870960" y="4330065"/>
            <a:ext cx="387350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D8D8E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l" fontAlgn="auto">
              <a:lnSpc>
                <a:spcPts val="2500"/>
              </a:lnSpc>
            </a:pPr>
            <a:r>
              <a:rPr lang="zh-CN" altLang="en-US" b="1" dirty="0" smtClean="0">
                <a:ln w="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组号：</a:t>
            </a:r>
            <a:r>
              <a:rPr lang="en-US" altLang="zh-CN" b="1" dirty="0" smtClean="0">
                <a:ln w="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20</a:t>
            </a:r>
            <a:endParaRPr lang="en-US" altLang="zh-CN" b="1" dirty="0" smtClean="0">
              <a:ln w="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明月 9"/>
          <p:cNvSpPr txBox="1"/>
          <p:nvPr/>
        </p:nvSpPr>
        <p:spPr>
          <a:xfrm>
            <a:off x="3870960" y="4812030"/>
            <a:ext cx="387350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D8D8E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l" fontAlgn="auto">
              <a:lnSpc>
                <a:spcPts val="2500"/>
              </a:lnSpc>
            </a:pPr>
            <a:r>
              <a:rPr lang="zh-CN" altLang="en-US" b="1" dirty="0" smtClean="0">
                <a:ln w="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组长：杨灏哲</a:t>
            </a:r>
            <a:endParaRPr lang="zh-CN" altLang="en-US" dirty="0">
              <a:ln w="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" grpId="1" bldLvl="0" animBg="1"/>
      <p:bldP spid="4" grpId="1" bldLvl="0" animBg="1"/>
      <p:bldP spid="5" grpId="1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8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9.xml><?xml version="1.0" encoding="utf-8"?>
<p:tagLst xmlns:p="http://schemas.openxmlformats.org/presentationml/2006/main">
  <p:tag name="KSO_WM_UNIT_TABLE_BEAUTIFY" val="smartTable{3a046300-0883-4bd6-b2b3-6a0df38c08fa}"/>
  <p:tag name="TABLE_ENDDRAG_ORIGIN_RECT" val="246*432"/>
  <p:tag name="TABLE_ENDDRAG_RECT" val="535*40*246*432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1.xml><?xml version="1.0" encoding="utf-8"?>
<p:tagLst xmlns:p="http://schemas.openxmlformats.org/presentationml/2006/main">
  <p:tag name="KSO_WM_UNIT_TABLE_BEAUTIFY" val="smartTable{dbba4faa-079c-4ad0-b51f-e1ce03ac2301}"/>
  <p:tag name="TABLE_ENDDRAG_ORIGIN_RECT" val="529*211"/>
  <p:tag name="TABLE_ENDDRAG_RECT" val="87*120*529*21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1.xml><?xml version="1.0" encoding="utf-8"?>
<p:tagLst xmlns:p="http://schemas.openxmlformats.org/presentationml/2006/main">
  <p:tag name="KSO_WM_UNIT_PLACING_PICTURE_USER_VIEWPORT" val="{&quot;height&quot;:12705,&quot;width&quot;:10170}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3.xml><?xml version="1.0" encoding="utf-8"?>
<p:tagLst xmlns:p="http://schemas.openxmlformats.org/presentationml/2006/main">
  <p:tag name="KSO_WM_UNIT_TABLE_BEAUTIFY" val="smartTable{c0c5b93c-1092-4178-80c5-f3e0c8a9bd64}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8.xml><?xml version="1.0" encoding="utf-8"?>
<p:tagLst xmlns:p="http://schemas.openxmlformats.org/presentationml/2006/main">
  <p:tag name="COMMONDATA" val="eyJjb3VudCI6MTQsImhkaWQiOiI3OTJmMTNmMjQ5Y2Q1ZjY2MzhhMDE2YjBlYWU5NmU1MSIsInVzZXJDb3VudCI6MTR9"/>
  <p:tag name="KSO_WPP_MARK_KEY" val="4c103957-669f-434e-a6b0-fbfcbb43ae40"/>
</p:tagLst>
</file>

<file path=ppt/theme/theme1.xml><?xml version="1.0" encoding="utf-8"?>
<a:theme xmlns:a="http://schemas.openxmlformats.org/drawingml/2006/main" name="稻壳儿明月设计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f2mdpswj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f2mdpswj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正圆-45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正圆-45W"/>
        <a:ea typeface=""/>
        <a:cs typeface=""/>
        <a:font script="Jpan" typeface="ＭＳ Ｐゴシック"/>
        <a:font script="Hang" typeface="맑은 고딕"/>
        <a:font script="Hans" typeface="汉仪正圆-45W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正圆-45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正圆-45W"/>
        <a:ea typeface=""/>
        <a:cs typeface=""/>
        <a:font script="Jpan" typeface="ＭＳ Ｐゴシック"/>
        <a:font script="Hang" typeface="맑은 고딕"/>
        <a:font script="Hans" typeface="汉仪正圆-45W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5788</Words>
  <Application>WPS 演示</Application>
  <PresentationFormat>宽屏</PresentationFormat>
  <Paragraphs>681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宋体</vt:lpstr>
      <vt:lpstr>Wingdings</vt:lpstr>
      <vt:lpstr>Wingdings</vt:lpstr>
      <vt:lpstr>汉仪正圆-45W</vt:lpstr>
      <vt:lpstr>Calibri</vt:lpstr>
      <vt:lpstr>微软雅黑</vt:lpstr>
      <vt:lpstr>Arial Unicode MS</vt:lpstr>
      <vt:lpstr>稻壳儿明月设计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渐行渐远</cp:lastModifiedBy>
  <cp:revision>235</cp:revision>
  <dcterms:created xsi:type="dcterms:W3CDTF">2019-06-19T02:08:00Z</dcterms:created>
  <dcterms:modified xsi:type="dcterms:W3CDTF">2022-10-28T08:25:40Z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857FDAD2295B4E4BB7F4F557E113B9C8</vt:lpwstr>
  </property>
  <property fmtid="{D5CDD505-2E9C-101B-9397-08002B2CF9AE}" pid="4" name="KSOTemplateUUID">
    <vt:lpwstr>v1.0_mb_/druT3jW+2vbv1f4ls9F4A==</vt:lpwstr>
  </property>
</Properties>
</file>